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alibri" panose="020F0502020204030204" pitchFamily="34" charset="0"/>
      <p:regular r:id="rId12"/>
      <p:bold r:id="rId13"/>
      <p:italic r:id="rId14"/>
      <p:boldItalic r:id="rId15"/>
    </p:embeddedFont>
    <p:embeddedFont>
      <p:font typeface="Times New Roman Bold" panose="02020803070505020304" pitchFamily="18" charset="0"/>
      <p:bold r:id="rId16"/>
    </p:embeddedFont>
    <p:embeddedFont>
      <p:font typeface="Arimo Bold" panose="020B0604020202020204" charset="0"/>
      <p:regular r:id="rId17"/>
    </p:embeddedFont>
    <p:embeddedFont>
      <p:font typeface="Arimo"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0" d="100"/>
          <a:sy n="60" d="100"/>
        </p:scale>
        <p:origin x="370"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11.08.2025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674311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784851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179448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923272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718732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02530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080641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989298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946720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https://docs.djangoproject.com"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AFA">
                <a:alpha val="90196"/>
              </a:srgbClr>
            </a:solidFill>
          </p:spPr>
        </p:sp>
      </p:grpSp>
      <p:sp>
        <p:nvSpPr>
          <p:cNvPr id="6" name="TextBox 6"/>
          <p:cNvSpPr txBox="1"/>
          <p:nvPr/>
        </p:nvSpPr>
        <p:spPr>
          <a:xfrm>
            <a:off x="4371826" y="1254147"/>
            <a:ext cx="9544347" cy="1028849"/>
          </a:xfrm>
          <a:prstGeom prst="rect">
            <a:avLst/>
          </a:prstGeom>
        </p:spPr>
        <p:txBody>
          <a:bodyPr lIns="0" tIns="0" rIns="0" bIns="0" rtlCol="0" anchor="t">
            <a:spAutoFit/>
          </a:bodyPr>
          <a:lstStyle/>
          <a:p>
            <a:pPr algn="l">
              <a:lnSpc>
                <a:spcPts val="6937"/>
              </a:lnSpc>
            </a:pPr>
            <a:r>
              <a:rPr lang="en-US" sz="5562" b="1" dirty="0">
                <a:solidFill>
                  <a:srgbClr val="231971"/>
                </a:solidFill>
                <a:latin typeface="Times New Roman Bold"/>
                <a:ea typeface="Times New Roman Bold"/>
                <a:cs typeface="Times New Roman Bold"/>
                <a:sym typeface="Times New Roman Bold"/>
              </a:rPr>
              <a:t>Online Notes Sharing System</a:t>
            </a:r>
          </a:p>
        </p:txBody>
      </p:sp>
      <p:sp>
        <p:nvSpPr>
          <p:cNvPr id="7" name="TextBox 7"/>
          <p:cNvSpPr txBox="1"/>
          <p:nvPr/>
        </p:nvSpPr>
        <p:spPr>
          <a:xfrm>
            <a:off x="1109345" y="3446832"/>
            <a:ext cx="16303526" cy="3351638"/>
          </a:xfrm>
          <a:prstGeom prst="rect">
            <a:avLst/>
          </a:prstGeom>
        </p:spPr>
        <p:txBody>
          <a:bodyPr lIns="0" tIns="0" rIns="0" bIns="0" rtlCol="0" anchor="t">
            <a:spAutoFit/>
          </a:bodyPr>
          <a:lstStyle/>
          <a:p>
            <a:pPr algn="l">
              <a:lnSpc>
                <a:spcPts val="3562"/>
              </a:lnSpc>
            </a:pPr>
            <a:r>
              <a:rPr lang="en-US" sz="3000" dirty="0">
                <a:solidFill>
                  <a:srgbClr val="2A2742"/>
                </a:solidFill>
                <a:latin typeface="Times New Roman"/>
                <a:ea typeface="Times New Roman"/>
                <a:cs typeface="Times New Roman"/>
                <a:sym typeface="Times New Roman"/>
              </a:rPr>
              <a:t>Delivered by</a:t>
            </a:r>
          </a:p>
          <a:p>
            <a:pPr algn="l">
              <a:lnSpc>
                <a:spcPts val="3562"/>
              </a:lnSpc>
            </a:pPr>
            <a:endParaRPr lang="en-US" sz="3000" dirty="0">
              <a:solidFill>
                <a:srgbClr val="2A2742"/>
              </a:solidFill>
              <a:latin typeface="Times New Roman"/>
              <a:ea typeface="Times New Roman"/>
              <a:cs typeface="Times New Roman"/>
              <a:sym typeface="Times New Roman"/>
            </a:endParaRPr>
          </a:p>
          <a:p>
            <a:pPr marL="2663031" lvl="5" indent="-443839" algn="l">
              <a:lnSpc>
                <a:spcPts val="3562"/>
              </a:lnSpc>
              <a:buAutoNum type="arabicPeriod"/>
            </a:pPr>
            <a:r>
              <a:rPr lang="en-US" sz="2499" b="1" dirty="0" err="1">
                <a:solidFill>
                  <a:srgbClr val="002060"/>
                </a:solidFill>
                <a:latin typeface="Times New Roman Bold"/>
                <a:ea typeface="Times New Roman Bold"/>
                <a:cs typeface="Times New Roman Bold"/>
                <a:sym typeface="Times New Roman Bold"/>
              </a:rPr>
              <a:t>Shiwani</a:t>
            </a:r>
            <a:r>
              <a:rPr lang="en-US" sz="2499" b="1" dirty="0">
                <a:solidFill>
                  <a:srgbClr val="002060"/>
                </a:solidFill>
                <a:latin typeface="Times New Roman Bold"/>
                <a:ea typeface="Times New Roman Bold"/>
                <a:cs typeface="Times New Roman Bold"/>
                <a:sym typeface="Times New Roman Bold"/>
              </a:rPr>
              <a:t> </a:t>
            </a:r>
            <a:r>
              <a:rPr lang="en-US" sz="2499" b="1" dirty="0" err="1">
                <a:solidFill>
                  <a:srgbClr val="002060"/>
                </a:solidFill>
                <a:latin typeface="Times New Roman Bold"/>
                <a:ea typeface="Times New Roman Bold"/>
                <a:cs typeface="Times New Roman Bold"/>
                <a:sym typeface="Times New Roman Bold"/>
              </a:rPr>
              <a:t>Amrute</a:t>
            </a:r>
            <a:r>
              <a:rPr lang="en-US" sz="2499" b="1" dirty="0">
                <a:solidFill>
                  <a:srgbClr val="002060"/>
                </a:solidFill>
                <a:latin typeface="Times New Roman Bold"/>
                <a:ea typeface="Times New Roman Bold"/>
                <a:cs typeface="Times New Roman Bold"/>
                <a:sym typeface="Times New Roman Bold"/>
              </a:rPr>
              <a:t> (Roll No. 14) </a:t>
            </a:r>
          </a:p>
          <a:p>
            <a:pPr marL="2663031" lvl="5" indent="-443839" algn="l">
              <a:lnSpc>
                <a:spcPts val="3562"/>
              </a:lnSpc>
              <a:buAutoNum type="arabicPeriod"/>
            </a:pPr>
            <a:r>
              <a:rPr lang="en-US" sz="2499" b="1" dirty="0">
                <a:solidFill>
                  <a:srgbClr val="002060"/>
                </a:solidFill>
                <a:latin typeface="Times New Roman Bold"/>
                <a:ea typeface="Times New Roman Bold"/>
                <a:cs typeface="Times New Roman Bold"/>
                <a:sym typeface="Times New Roman Bold"/>
              </a:rPr>
              <a:t>Prayas </a:t>
            </a:r>
            <a:r>
              <a:rPr lang="en-US" sz="2499" b="1" dirty="0" err="1">
                <a:solidFill>
                  <a:srgbClr val="002060"/>
                </a:solidFill>
                <a:latin typeface="Times New Roman Bold"/>
                <a:ea typeface="Times New Roman Bold"/>
                <a:cs typeface="Times New Roman Bold"/>
                <a:sym typeface="Times New Roman Bold"/>
              </a:rPr>
              <a:t>Gotefode</a:t>
            </a:r>
            <a:r>
              <a:rPr lang="en-US" sz="2499" b="1" dirty="0">
                <a:solidFill>
                  <a:srgbClr val="002060"/>
                </a:solidFill>
                <a:latin typeface="Times New Roman Bold"/>
                <a:ea typeface="Times New Roman Bold"/>
                <a:cs typeface="Times New Roman Bold"/>
                <a:sym typeface="Times New Roman Bold"/>
              </a:rPr>
              <a:t> (Roll No. 13) </a:t>
            </a:r>
          </a:p>
          <a:p>
            <a:pPr marL="2663031" lvl="5" indent="-443839" algn="l">
              <a:lnSpc>
                <a:spcPts val="3562"/>
              </a:lnSpc>
            </a:pPr>
            <a:endParaRPr lang="en-US" sz="2499" b="1" dirty="0">
              <a:solidFill>
                <a:srgbClr val="002060"/>
              </a:solidFill>
              <a:latin typeface="Times New Roman Bold"/>
              <a:ea typeface="Times New Roman Bold"/>
              <a:cs typeface="Times New Roman Bold"/>
              <a:sym typeface="Times New Roman Bold"/>
            </a:endParaRPr>
          </a:p>
          <a:p>
            <a:pPr marL="3195637" lvl="5" indent="-532606" algn="ctr">
              <a:lnSpc>
                <a:spcPts val="3562"/>
              </a:lnSpc>
            </a:pPr>
            <a:r>
              <a:rPr lang="en-US" sz="3000" dirty="0">
                <a:solidFill>
                  <a:srgbClr val="2A2742"/>
                </a:solidFill>
                <a:latin typeface="Times New Roman"/>
                <a:ea typeface="Times New Roman"/>
                <a:cs typeface="Times New Roman"/>
                <a:sym typeface="Times New Roman"/>
              </a:rPr>
              <a:t>Under the guidance of</a:t>
            </a:r>
          </a:p>
          <a:p>
            <a:pPr marL="2663031" lvl="5" indent="-443839" algn="ctr">
              <a:lnSpc>
                <a:spcPts val="3562"/>
              </a:lnSpc>
            </a:pPr>
            <a:r>
              <a:rPr lang="en-US" sz="2499" b="1" dirty="0">
                <a:solidFill>
                  <a:srgbClr val="002060"/>
                </a:solidFill>
                <a:latin typeface="Times New Roman Bold"/>
                <a:ea typeface="Times New Roman Bold"/>
                <a:cs typeface="Times New Roman Bold"/>
                <a:sym typeface="Times New Roman Bold"/>
              </a:rPr>
              <a:t>Prof. Rahul </a:t>
            </a:r>
            <a:r>
              <a:rPr lang="en-US" sz="2499" b="1" dirty="0" err="1">
                <a:solidFill>
                  <a:srgbClr val="002060"/>
                </a:solidFill>
                <a:latin typeface="Times New Roman Bold"/>
                <a:ea typeface="Times New Roman Bold"/>
                <a:cs typeface="Times New Roman Bold"/>
                <a:sym typeface="Times New Roman Bold"/>
              </a:rPr>
              <a:t>Lilhare</a:t>
            </a:r>
            <a:endParaRPr lang="en-US" sz="2499" b="1" dirty="0">
              <a:solidFill>
                <a:srgbClr val="002060"/>
              </a:solidFill>
              <a:latin typeface="Times New Roman Bold"/>
              <a:ea typeface="Times New Roman Bold"/>
              <a:cs typeface="Times New Roman Bold"/>
              <a:sym typeface="Times New Roman Bold"/>
            </a:endParaRPr>
          </a:p>
        </p:txBody>
      </p:sp>
      <p:sp>
        <p:nvSpPr>
          <p:cNvPr id="8" name="TextBox 8"/>
          <p:cNvSpPr txBox="1"/>
          <p:nvPr/>
        </p:nvSpPr>
        <p:spPr>
          <a:xfrm>
            <a:off x="992238" y="7648441"/>
            <a:ext cx="16303526" cy="1375243"/>
          </a:xfrm>
          <a:prstGeom prst="rect">
            <a:avLst/>
          </a:prstGeom>
        </p:spPr>
        <p:txBody>
          <a:bodyPr lIns="0" tIns="0" rIns="0" bIns="0" rtlCol="0" anchor="t">
            <a:spAutoFit/>
          </a:bodyPr>
          <a:lstStyle/>
          <a:p>
            <a:pPr algn="l">
              <a:lnSpc>
                <a:spcPts val="3562"/>
              </a:lnSpc>
            </a:pPr>
            <a:r>
              <a:rPr lang="en-US" sz="2249" b="1">
                <a:solidFill>
                  <a:srgbClr val="2A2742"/>
                </a:solidFill>
                <a:latin typeface="Times New Roman Bold"/>
                <a:ea typeface="Times New Roman Bold"/>
                <a:cs typeface="Times New Roman Bold"/>
                <a:sym typeface="Times New Roman Bold"/>
              </a:rPr>
              <a:t>KDK College of Engineering, Nagpur</a:t>
            </a:r>
          </a:p>
          <a:p>
            <a:pPr algn="l">
              <a:lnSpc>
                <a:spcPts val="3562"/>
              </a:lnSpc>
            </a:pPr>
            <a:r>
              <a:rPr lang="en-US" sz="2249" b="1">
                <a:solidFill>
                  <a:srgbClr val="2A2742"/>
                </a:solidFill>
                <a:latin typeface="Times New Roman Bold"/>
                <a:ea typeface="Times New Roman Bold"/>
                <a:cs typeface="Times New Roman Bold"/>
                <a:sym typeface="Times New Roman Bold"/>
              </a:rPr>
              <a:t>Department of Master of Computer Application</a:t>
            </a:r>
          </a:p>
          <a:p>
            <a:pPr algn="l">
              <a:lnSpc>
                <a:spcPts val="3562"/>
              </a:lnSpc>
            </a:pPr>
            <a:endParaRPr lang="en-US" sz="2249" b="1">
              <a:solidFill>
                <a:srgbClr val="2A2742"/>
              </a:solidFill>
              <a:latin typeface="Times New Roman Bold"/>
              <a:ea typeface="Times New Roman Bold"/>
              <a:cs typeface="Times New Roman Bold"/>
              <a:sym typeface="Times New Roman Bold"/>
            </a:endParaRPr>
          </a:p>
          <a:p>
            <a:pPr algn="l">
              <a:lnSpc>
                <a:spcPts val="3562"/>
              </a:lnSpc>
            </a:pPr>
            <a:r>
              <a:rPr lang="en-US" sz="2249" b="1">
                <a:solidFill>
                  <a:srgbClr val="2A2742"/>
                </a:solidFill>
                <a:latin typeface="Times New Roman Bold"/>
                <a:ea typeface="Times New Roman Bold"/>
                <a:cs typeface="Times New Roman Bold"/>
                <a:sym typeface="Times New Roman Bold"/>
              </a:rPr>
              <a:t>Date :</a:t>
            </a:r>
          </a:p>
          <a:p>
            <a:pPr algn="l">
              <a:lnSpc>
                <a:spcPts val="3562"/>
              </a:lnSpc>
            </a:pPr>
            <a:endParaRPr lang="en-US" sz="2249" b="1">
              <a:solidFill>
                <a:srgbClr val="2A2742"/>
              </a:solidFill>
              <a:latin typeface="Times New Roman Bold"/>
              <a:ea typeface="Times New Roman Bold"/>
              <a:cs typeface="Times New Roman Bold"/>
              <a:sym typeface="Times New Roman Bold"/>
            </a:endParaRPr>
          </a:p>
        </p:txBody>
      </p:sp>
      <p:grpSp>
        <p:nvGrpSpPr>
          <p:cNvPr id="9" name="Group 9"/>
          <p:cNvGrpSpPr>
            <a:grpSpLocks noChangeAspect="1"/>
          </p:cNvGrpSpPr>
          <p:nvPr/>
        </p:nvGrpSpPr>
        <p:grpSpPr>
          <a:xfrm>
            <a:off x="279302" y="279445"/>
            <a:ext cx="2389657" cy="2235155"/>
            <a:chOff x="0" y="0"/>
            <a:chExt cx="3186210" cy="2980207"/>
          </a:xfrm>
        </p:grpSpPr>
        <p:sp>
          <p:nvSpPr>
            <p:cNvPr id="10" name="Freeform 10" descr="C:\Users\KDKCE\Desktop\download.jpg"/>
            <p:cNvSpPr/>
            <p:nvPr/>
          </p:nvSpPr>
          <p:spPr>
            <a:xfrm>
              <a:off x="0" y="0"/>
              <a:ext cx="3186176" cy="2980182"/>
            </a:xfrm>
            <a:custGeom>
              <a:avLst/>
              <a:gdLst/>
              <a:ahLst/>
              <a:cxnLst/>
              <a:rect l="l" t="t" r="r" b="b"/>
              <a:pathLst>
                <a:path w="3186176" h="2980182">
                  <a:moveTo>
                    <a:pt x="0" y="0"/>
                  </a:moveTo>
                  <a:lnTo>
                    <a:pt x="3186176" y="0"/>
                  </a:lnTo>
                  <a:lnTo>
                    <a:pt x="3186176" y="2980182"/>
                  </a:lnTo>
                  <a:lnTo>
                    <a:pt x="0" y="2980182"/>
                  </a:lnTo>
                  <a:lnTo>
                    <a:pt x="0" y="0"/>
                  </a:lnTo>
                  <a:close/>
                </a:path>
              </a:pathLst>
            </a:custGeom>
            <a:blipFill>
              <a:blip r:embed="rId4"/>
              <a:stretch>
                <a:fillRect r="-1"/>
              </a:stretch>
            </a:blipFill>
          </p:spPr>
        </p:sp>
      </p:grpSp>
      <p:sp>
        <p:nvSpPr>
          <p:cNvPr id="11" name="TextBox 11"/>
          <p:cNvSpPr txBox="1"/>
          <p:nvPr/>
        </p:nvSpPr>
        <p:spPr>
          <a:xfrm>
            <a:off x="7851809" y="607194"/>
            <a:ext cx="2566671" cy="638785"/>
          </a:xfrm>
          <a:prstGeom prst="rect">
            <a:avLst/>
          </a:prstGeom>
        </p:spPr>
        <p:txBody>
          <a:bodyPr lIns="0" tIns="0" rIns="0" bIns="0" rtlCol="0" anchor="t">
            <a:spAutoFit/>
          </a:bodyPr>
          <a:lstStyle/>
          <a:p>
            <a:pPr algn="l">
              <a:lnSpc>
                <a:spcPts val="4200"/>
              </a:lnSpc>
            </a:pPr>
            <a:r>
              <a:rPr lang="en-US" sz="3500" b="1" dirty="0">
                <a:solidFill>
                  <a:srgbClr val="000000"/>
                </a:solidFill>
                <a:latin typeface="Times New Roman Bold"/>
                <a:ea typeface="Times New Roman Bold"/>
                <a:cs typeface="Times New Roman Bold"/>
                <a:sym typeface="Times New Roman Bold"/>
              </a:rPr>
              <a:t>Project Title </a:t>
            </a:r>
          </a:p>
        </p:txBody>
      </p:sp>
      <p:sp>
        <p:nvSpPr>
          <p:cNvPr id="12" name="AutoShape 12"/>
          <p:cNvSpPr/>
          <p:nvPr/>
        </p:nvSpPr>
        <p:spPr>
          <a:xfrm rot="-7468">
            <a:off x="1097420" y="7275843"/>
            <a:ext cx="16210270" cy="0"/>
          </a:xfrm>
          <a:prstGeom prst="line">
            <a:avLst/>
          </a:prstGeom>
          <a:ln w="19050" cap="rnd">
            <a:solidFill>
              <a:srgbClr val="000000"/>
            </a:solidFill>
            <a:prstDash val="solid"/>
            <a:headEnd type="none" w="sm" len="sm"/>
            <a:tailEnd type="none" w="sm" len="sm"/>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AFA">
                <a:alpha val="90196"/>
              </a:srgbClr>
            </a:solidFill>
          </p:spPr>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4"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5"/>
              <a:stretch>
                <a:fillRect r="-1"/>
              </a:stretch>
            </a:blipFill>
          </p:spPr>
        </p:sp>
      </p:grpSp>
      <p:grpSp>
        <p:nvGrpSpPr>
          <p:cNvPr id="8" name="Group 8"/>
          <p:cNvGrpSpPr>
            <a:grpSpLocks noChangeAspect="1"/>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sp>
      </p:grpSp>
      <p:sp>
        <p:nvSpPr>
          <p:cNvPr id="10" name="TextBox 10"/>
          <p:cNvSpPr txBox="1"/>
          <p:nvPr/>
        </p:nvSpPr>
        <p:spPr>
          <a:xfrm>
            <a:off x="992238" y="2843064"/>
            <a:ext cx="7088237" cy="943124"/>
          </a:xfrm>
          <a:prstGeom prst="rect">
            <a:avLst/>
          </a:prstGeom>
        </p:spPr>
        <p:txBody>
          <a:bodyPr lIns="0" tIns="0" rIns="0" bIns="0" rtlCol="0" anchor="t">
            <a:spAutoFit/>
          </a:bodyPr>
          <a:lstStyle/>
          <a:p>
            <a:pPr algn="l">
              <a:lnSpc>
                <a:spcPts val="6937"/>
              </a:lnSpc>
            </a:pPr>
            <a:r>
              <a:rPr lang="en-US" sz="5562" b="1">
                <a:solidFill>
                  <a:srgbClr val="231971"/>
                </a:solidFill>
                <a:latin typeface="Arimo Bold"/>
                <a:ea typeface="Arimo Bold"/>
                <a:cs typeface="Arimo Bold"/>
                <a:sym typeface="Arimo Bold"/>
              </a:rPr>
              <a:t>Abstract</a:t>
            </a:r>
          </a:p>
        </p:txBody>
      </p:sp>
      <p:sp>
        <p:nvSpPr>
          <p:cNvPr id="11" name="TextBox 11"/>
          <p:cNvSpPr txBox="1"/>
          <p:nvPr/>
        </p:nvSpPr>
        <p:spPr>
          <a:xfrm>
            <a:off x="992238" y="4106615"/>
            <a:ext cx="9445526" cy="3280172"/>
          </a:xfrm>
          <a:prstGeom prst="rect">
            <a:avLst/>
          </a:prstGeom>
        </p:spPr>
        <p:txBody>
          <a:bodyPr lIns="0" tIns="0" rIns="0" bIns="0" rtlCol="0" anchor="t">
            <a:spAutoFit/>
          </a:bodyPr>
          <a:lstStyle/>
          <a:p>
            <a:pPr algn="l">
              <a:lnSpc>
                <a:spcPts val="3562"/>
              </a:lnSpc>
            </a:pPr>
            <a:r>
              <a:rPr lang="en-US" sz="2187">
                <a:solidFill>
                  <a:srgbClr val="2A2742"/>
                </a:solidFill>
                <a:latin typeface="Arimo"/>
                <a:ea typeface="Arimo"/>
                <a:cs typeface="Arimo"/>
                <a:sym typeface="Arimo"/>
              </a:rPr>
              <a:t>This web-based platform helps students and teachers share study notes easily. Users can upload and download notes in various formats like PDF, DOCX, and PPTX. The system offers search, filtering, and categories to find quality notes quickly. It includes roles for Students, Teachers, and Admins, with admins approving content for visibility. Our goal is to provide a simple, safe, and effective way for academic communities to share and access learning materials.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AFA">
                <a:alpha val="90196"/>
              </a:srgbClr>
            </a:solidFill>
          </p:spPr>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4"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5"/>
              <a:stretch>
                <a:fillRect r="-1"/>
              </a:stretch>
            </a:blipFill>
          </p:spPr>
        </p:sp>
      </p:grpSp>
      <p:grpSp>
        <p:nvGrpSpPr>
          <p:cNvPr id="8" name="Group 8"/>
          <p:cNvGrpSpPr>
            <a:grpSpLocks noChangeAspect="1"/>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sp>
      </p:grpSp>
      <p:sp>
        <p:nvSpPr>
          <p:cNvPr id="10" name="TextBox 10"/>
          <p:cNvSpPr txBox="1"/>
          <p:nvPr/>
        </p:nvSpPr>
        <p:spPr>
          <a:xfrm>
            <a:off x="992238" y="3069877"/>
            <a:ext cx="7088237" cy="943124"/>
          </a:xfrm>
          <a:prstGeom prst="rect">
            <a:avLst/>
          </a:prstGeom>
        </p:spPr>
        <p:txBody>
          <a:bodyPr lIns="0" tIns="0" rIns="0" bIns="0" rtlCol="0" anchor="t">
            <a:spAutoFit/>
          </a:bodyPr>
          <a:lstStyle/>
          <a:p>
            <a:pPr algn="l">
              <a:lnSpc>
                <a:spcPts val="6937"/>
              </a:lnSpc>
            </a:pPr>
            <a:r>
              <a:rPr lang="en-US" sz="5562" b="1">
                <a:solidFill>
                  <a:srgbClr val="231971"/>
                </a:solidFill>
                <a:latin typeface="Arimo Bold"/>
                <a:ea typeface="Arimo Bold"/>
                <a:cs typeface="Arimo Bold"/>
                <a:sym typeface="Arimo Bold"/>
              </a:rPr>
              <a:t>Introduction</a:t>
            </a:r>
          </a:p>
        </p:txBody>
      </p:sp>
      <p:sp>
        <p:nvSpPr>
          <p:cNvPr id="11" name="TextBox 11"/>
          <p:cNvSpPr txBox="1"/>
          <p:nvPr/>
        </p:nvSpPr>
        <p:spPr>
          <a:xfrm>
            <a:off x="992238" y="4333429"/>
            <a:ext cx="9445526" cy="2826544"/>
          </a:xfrm>
          <a:prstGeom prst="rect">
            <a:avLst/>
          </a:prstGeom>
        </p:spPr>
        <p:txBody>
          <a:bodyPr lIns="0" tIns="0" rIns="0" bIns="0" rtlCol="0" anchor="t">
            <a:spAutoFit/>
          </a:bodyPr>
          <a:lstStyle/>
          <a:p>
            <a:pPr algn="l">
              <a:lnSpc>
                <a:spcPts val="3562"/>
              </a:lnSpc>
            </a:pPr>
            <a:r>
              <a:rPr lang="en-US" sz="2187">
                <a:solidFill>
                  <a:srgbClr val="2A2742"/>
                </a:solidFill>
                <a:latin typeface="Arimo"/>
                <a:ea typeface="Arimo"/>
                <a:cs typeface="Arimo"/>
                <a:sym typeface="Arimo"/>
              </a:rPr>
              <a:t>The Online Notes Sharing System solves the problem of scattered and low-quality academic resources. It's a simple web app built with Python (Django) for the backend and HTML, CSS, Bootstrap, and JavaScript for the frontend. It uses SQLite for development and MySQL for production. This system helps students get reliable notes fast and teachers share resources more efficiently.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AFA">
                <a:alpha val="90196"/>
              </a:srgbClr>
            </a:solidFill>
          </p:spPr>
        </p:sp>
      </p:grpSp>
      <p:sp>
        <p:nvSpPr>
          <p:cNvPr id="6" name="TextBox 6"/>
          <p:cNvSpPr txBox="1"/>
          <p:nvPr/>
        </p:nvSpPr>
        <p:spPr>
          <a:xfrm>
            <a:off x="992238" y="3051274"/>
            <a:ext cx="7088237" cy="943124"/>
          </a:xfrm>
          <a:prstGeom prst="rect">
            <a:avLst/>
          </a:prstGeom>
        </p:spPr>
        <p:txBody>
          <a:bodyPr lIns="0" tIns="0" rIns="0" bIns="0" rtlCol="0" anchor="t">
            <a:spAutoFit/>
          </a:bodyPr>
          <a:lstStyle/>
          <a:p>
            <a:pPr algn="l">
              <a:lnSpc>
                <a:spcPts val="6937"/>
              </a:lnSpc>
            </a:pPr>
            <a:r>
              <a:rPr lang="en-US" sz="5562" b="1">
                <a:solidFill>
                  <a:srgbClr val="231971"/>
                </a:solidFill>
                <a:latin typeface="Arimo Bold"/>
                <a:ea typeface="Arimo Bold"/>
                <a:cs typeface="Arimo Bold"/>
                <a:sym typeface="Arimo Bold"/>
              </a:rPr>
              <a:t>Literature Survey</a:t>
            </a:r>
          </a:p>
        </p:txBody>
      </p:sp>
      <p:grpSp>
        <p:nvGrpSpPr>
          <p:cNvPr id="7" name="Group 7"/>
          <p:cNvGrpSpPr/>
          <p:nvPr/>
        </p:nvGrpSpPr>
        <p:grpSpPr>
          <a:xfrm>
            <a:off x="973188" y="4542384"/>
            <a:ext cx="5283547" cy="2655243"/>
            <a:chOff x="0" y="0"/>
            <a:chExt cx="7044730" cy="3540323"/>
          </a:xfrm>
        </p:grpSpPr>
        <p:sp>
          <p:nvSpPr>
            <p:cNvPr id="8" name="Freeform 8"/>
            <p:cNvSpPr/>
            <p:nvPr/>
          </p:nvSpPr>
          <p:spPr>
            <a:xfrm>
              <a:off x="25400" y="25400"/>
              <a:ext cx="6993890" cy="3489452"/>
            </a:xfrm>
            <a:custGeom>
              <a:avLst/>
              <a:gdLst/>
              <a:ahLst/>
              <a:cxnLst/>
              <a:rect l="l" t="t" r="r" b="b"/>
              <a:pathLst>
                <a:path w="6993890" h="3489452">
                  <a:moveTo>
                    <a:pt x="0" y="243840"/>
                  </a:moveTo>
                  <a:cubicBezTo>
                    <a:pt x="0" y="109220"/>
                    <a:pt x="109982" y="0"/>
                    <a:pt x="245618" y="0"/>
                  </a:cubicBezTo>
                  <a:lnTo>
                    <a:pt x="6748272" y="0"/>
                  </a:lnTo>
                  <a:cubicBezTo>
                    <a:pt x="6883908" y="0"/>
                    <a:pt x="6993890" y="109220"/>
                    <a:pt x="6993890" y="243840"/>
                  </a:cubicBezTo>
                  <a:lnTo>
                    <a:pt x="6993890" y="3245612"/>
                  </a:lnTo>
                  <a:cubicBezTo>
                    <a:pt x="6993890" y="3380232"/>
                    <a:pt x="6883908" y="3489452"/>
                    <a:pt x="6748272" y="3489452"/>
                  </a:cubicBezTo>
                  <a:lnTo>
                    <a:pt x="245618" y="3489452"/>
                  </a:lnTo>
                  <a:cubicBezTo>
                    <a:pt x="109982" y="3489452"/>
                    <a:pt x="0" y="3380232"/>
                    <a:pt x="0" y="3245612"/>
                  </a:cubicBezTo>
                  <a:close/>
                </a:path>
              </a:pathLst>
            </a:custGeom>
            <a:solidFill>
              <a:srgbClr val="FAFAFA">
                <a:alpha val="90196"/>
              </a:srgbClr>
            </a:solidFill>
          </p:spPr>
        </p:sp>
        <p:sp>
          <p:nvSpPr>
            <p:cNvPr id="9" name="Freeform 9"/>
            <p:cNvSpPr/>
            <p:nvPr/>
          </p:nvSpPr>
          <p:spPr>
            <a:xfrm>
              <a:off x="0" y="0"/>
              <a:ext cx="7044690" cy="3540379"/>
            </a:xfrm>
            <a:custGeom>
              <a:avLst/>
              <a:gdLst/>
              <a:ahLst/>
              <a:cxnLst/>
              <a:rect l="l" t="t" r="r" b="b"/>
              <a:pathLst>
                <a:path w="7044690" h="3540379">
                  <a:moveTo>
                    <a:pt x="0" y="269240"/>
                  </a:moveTo>
                  <a:cubicBezTo>
                    <a:pt x="0" y="120396"/>
                    <a:pt x="121539" y="0"/>
                    <a:pt x="271018" y="0"/>
                  </a:cubicBezTo>
                  <a:lnTo>
                    <a:pt x="6773672" y="0"/>
                  </a:lnTo>
                  <a:lnTo>
                    <a:pt x="6773672" y="25400"/>
                  </a:lnTo>
                  <a:lnTo>
                    <a:pt x="6773672" y="0"/>
                  </a:lnTo>
                  <a:cubicBezTo>
                    <a:pt x="6923151" y="0"/>
                    <a:pt x="7044690" y="120396"/>
                    <a:pt x="7044690" y="269240"/>
                  </a:cubicBezTo>
                  <a:lnTo>
                    <a:pt x="7019290" y="269240"/>
                  </a:lnTo>
                  <a:lnTo>
                    <a:pt x="7044690" y="269240"/>
                  </a:lnTo>
                  <a:lnTo>
                    <a:pt x="7044690" y="3271012"/>
                  </a:lnTo>
                  <a:lnTo>
                    <a:pt x="7019290" y="3271012"/>
                  </a:lnTo>
                  <a:lnTo>
                    <a:pt x="7044690" y="3271012"/>
                  </a:lnTo>
                  <a:cubicBezTo>
                    <a:pt x="7044690" y="3419856"/>
                    <a:pt x="6923151" y="3540252"/>
                    <a:pt x="6773672" y="3540252"/>
                  </a:cubicBezTo>
                  <a:lnTo>
                    <a:pt x="6773672" y="3514852"/>
                  </a:lnTo>
                  <a:lnTo>
                    <a:pt x="6773672" y="3540252"/>
                  </a:lnTo>
                  <a:lnTo>
                    <a:pt x="271018" y="3540252"/>
                  </a:lnTo>
                  <a:lnTo>
                    <a:pt x="271018" y="3514852"/>
                  </a:lnTo>
                  <a:lnTo>
                    <a:pt x="271018" y="3540252"/>
                  </a:lnTo>
                  <a:cubicBezTo>
                    <a:pt x="121539" y="3540379"/>
                    <a:pt x="0" y="3419983"/>
                    <a:pt x="0" y="3271012"/>
                  </a:cubicBezTo>
                  <a:lnTo>
                    <a:pt x="0" y="269240"/>
                  </a:lnTo>
                  <a:lnTo>
                    <a:pt x="25400" y="269240"/>
                  </a:lnTo>
                  <a:lnTo>
                    <a:pt x="0" y="269240"/>
                  </a:lnTo>
                  <a:moveTo>
                    <a:pt x="50800" y="269240"/>
                  </a:moveTo>
                  <a:lnTo>
                    <a:pt x="50800" y="3271012"/>
                  </a:lnTo>
                  <a:lnTo>
                    <a:pt x="25400" y="3271012"/>
                  </a:lnTo>
                  <a:lnTo>
                    <a:pt x="50800" y="3271012"/>
                  </a:lnTo>
                  <a:cubicBezTo>
                    <a:pt x="50800" y="3391535"/>
                    <a:pt x="149225" y="3489452"/>
                    <a:pt x="271018" y="3489452"/>
                  </a:cubicBezTo>
                  <a:lnTo>
                    <a:pt x="6773672" y="3489452"/>
                  </a:lnTo>
                  <a:cubicBezTo>
                    <a:pt x="6895465" y="3489452"/>
                    <a:pt x="6993890" y="3391535"/>
                    <a:pt x="6993890" y="3271012"/>
                  </a:cubicBezTo>
                  <a:lnTo>
                    <a:pt x="6993890" y="269240"/>
                  </a:lnTo>
                  <a:cubicBezTo>
                    <a:pt x="6993890" y="148717"/>
                    <a:pt x="6895465" y="50800"/>
                    <a:pt x="6773672" y="50800"/>
                  </a:cubicBezTo>
                  <a:lnTo>
                    <a:pt x="271018" y="50800"/>
                  </a:lnTo>
                  <a:lnTo>
                    <a:pt x="271018" y="25400"/>
                  </a:lnTo>
                  <a:lnTo>
                    <a:pt x="271018" y="50800"/>
                  </a:lnTo>
                  <a:cubicBezTo>
                    <a:pt x="149225" y="50800"/>
                    <a:pt x="50800" y="148717"/>
                    <a:pt x="50800" y="269240"/>
                  </a:cubicBezTo>
                  <a:close/>
                </a:path>
              </a:pathLst>
            </a:custGeom>
            <a:solidFill>
              <a:srgbClr val="BDB8DF"/>
            </a:solidFill>
          </p:spPr>
        </p:sp>
      </p:grpSp>
      <p:grpSp>
        <p:nvGrpSpPr>
          <p:cNvPr id="10" name="Group 10"/>
          <p:cNvGrpSpPr/>
          <p:nvPr/>
        </p:nvGrpSpPr>
        <p:grpSpPr>
          <a:xfrm>
            <a:off x="954138" y="4561434"/>
            <a:ext cx="152400" cy="2617143"/>
            <a:chOff x="0" y="0"/>
            <a:chExt cx="203200" cy="3489523"/>
          </a:xfrm>
        </p:grpSpPr>
        <p:sp>
          <p:nvSpPr>
            <p:cNvPr id="11" name="Freeform 11"/>
            <p:cNvSpPr/>
            <p:nvPr/>
          </p:nvSpPr>
          <p:spPr>
            <a:xfrm>
              <a:off x="0" y="0"/>
              <a:ext cx="203200" cy="3489579"/>
            </a:xfrm>
            <a:custGeom>
              <a:avLst/>
              <a:gdLst/>
              <a:ahLst/>
              <a:cxnLst/>
              <a:rect l="l" t="t" r="r" b="b"/>
              <a:pathLst>
                <a:path w="203200" h="3489579">
                  <a:moveTo>
                    <a:pt x="0" y="101600"/>
                  </a:moveTo>
                  <a:cubicBezTo>
                    <a:pt x="0" y="45466"/>
                    <a:pt x="45466" y="0"/>
                    <a:pt x="101600" y="0"/>
                  </a:cubicBezTo>
                  <a:cubicBezTo>
                    <a:pt x="157734" y="0"/>
                    <a:pt x="203200" y="45466"/>
                    <a:pt x="203200" y="101600"/>
                  </a:cubicBezTo>
                  <a:lnTo>
                    <a:pt x="203200" y="3387979"/>
                  </a:lnTo>
                  <a:cubicBezTo>
                    <a:pt x="203200" y="3444113"/>
                    <a:pt x="157734" y="3489579"/>
                    <a:pt x="101600" y="3489579"/>
                  </a:cubicBezTo>
                  <a:cubicBezTo>
                    <a:pt x="45466" y="3489579"/>
                    <a:pt x="0" y="3444113"/>
                    <a:pt x="0" y="3387979"/>
                  </a:cubicBezTo>
                  <a:close/>
                </a:path>
              </a:pathLst>
            </a:custGeom>
            <a:solidFill>
              <a:srgbClr val="5E4CE6"/>
            </a:solidFill>
          </p:spPr>
        </p:sp>
      </p:grpSp>
      <p:sp>
        <p:nvSpPr>
          <p:cNvPr id="12" name="TextBox 12"/>
          <p:cNvSpPr txBox="1"/>
          <p:nvPr/>
        </p:nvSpPr>
        <p:spPr>
          <a:xfrm>
            <a:off x="1428155" y="4844951"/>
            <a:ext cx="3544044" cy="481012"/>
          </a:xfrm>
          <a:prstGeom prst="rect">
            <a:avLst/>
          </a:prstGeom>
        </p:spPr>
        <p:txBody>
          <a:bodyPr lIns="0" tIns="0" rIns="0" bIns="0" rtlCol="0" anchor="t">
            <a:spAutoFit/>
          </a:bodyPr>
          <a:lstStyle/>
          <a:p>
            <a:pPr algn="l">
              <a:lnSpc>
                <a:spcPts val="3437"/>
              </a:lnSpc>
            </a:pPr>
            <a:r>
              <a:rPr lang="en-US" sz="2750" b="1">
                <a:solidFill>
                  <a:srgbClr val="2A2742"/>
                </a:solidFill>
                <a:latin typeface="Arimo Bold"/>
                <a:ea typeface="Arimo Bold"/>
                <a:cs typeface="Arimo Bold"/>
                <a:sym typeface="Arimo Bold"/>
              </a:rPr>
              <a:t>Existing Platforms</a:t>
            </a:r>
          </a:p>
        </p:txBody>
      </p:sp>
      <p:sp>
        <p:nvSpPr>
          <p:cNvPr id="13" name="TextBox 13"/>
          <p:cNvSpPr txBox="1"/>
          <p:nvPr/>
        </p:nvSpPr>
        <p:spPr>
          <a:xfrm>
            <a:off x="1428155" y="5391299"/>
            <a:ext cx="4487912" cy="1465660"/>
          </a:xfrm>
          <a:prstGeom prst="rect">
            <a:avLst/>
          </a:prstGeom>
        </p:spPr>
        <p:txBody>
          <a:bodyPr lIns="0" tIns="0" rIns="0" bIns="0" rtlCol="0" anchor="t">
            <a:spAutoFit/>
          </a:bodyPr>
          <a:lstStyle/>
          <a:p>
            <a:pPr algn="l">
              <a:lnSpc>
                <a:spcPts val="3562"/>
              </a:lnSpc>
            </a:pPr>
            <a:r>
              <a:rPr lang="en-US" sz="2187">
                <a:solidFill>
                  <a:srgbClr val="2A2742"/>
                </a:solidFill>
                <a:latin typeface="Arimo"/>
                <a:ea typeface="Arimo"/>
                <a:cs typeface="Arimo"/>
                <a:sym typeface="Arimo"/>
              </a:rPr>
              <a:t>Google Classroom and Moodle are powerful but can be too complex for simple note sharing.</a:t>
            </a:r>
          </a:p>
        </p:txBody>
      </p:sp>
      <p:grpSp>
        <p:nvGrpSpPr>
          <p:cNvPr id="14" name="Group 14"/>
          <p:cNvGrpSpPr/>
          <p:nvPr/>
        </p:nvGrpSpPr>
        <p:grpSpPr>
          <a:xfrm>
            <a:off x="6502152" y="4542384"/>
            <a:ext cx="5283547" cy="2655243"/>
            <a:chOff x="0" y="0"/>
            <a:chExt cx="7044730" cy="3540323"/>
          </a:xfrm>
        </p:grpSpPr>
        <p:sp>
          <p:nvSpPr>
            <p:cNvPr id="15" name="Freeform 15"/>
            <p:cNvSpPr/>
            <p:nvPr/>
          </p:nvSpPr>
          <p:spPr>
            <a:xfrm>
              <a:off x="25400" y="25400"/>
              <a:ext cx="6993890" cy="3489452"/>
            </a:xfrm>
            <a:custGeom>
              <a:avLst/>
              <a:gdLst/>
              <a:ahLst/>
              <a:cxnLst/>
              <a:rect l="l" t="t" r="r" b="b"/>
              <a:pathLst>
                <a:path w="6993890" h="3489452">
                  <a:moveTo>
                    <a:pt x="0" y="243840"/>
                  </a:moveTo>
                  <a:cubicBezTo>
                    <a:pt x="0" y="109220"/>
                    <a:pt x="109982" y="0"/>
                    <a:pt x="245618" y="0"/>
                  </a:cubicBezTo>
                  <a:lnTo>
                    <a:pt x="6748272" y="0"/>
                  </a:lnTo>
                  <a:cubicBezTo>
                    <a:pt x="6883908" y="0"/>
                    <a:pt x="6993890" y="109220"/>
                    <a:pt x="6993890" y="243840"/>
                  </a:cubicBezTo>
                  <a:lnTo>
                    <a:pt x="6993890" y="3245612"/>
                  </a:lnTo>
                  <a:cubicBezTo>
                    <a:pt x="6993890" y="3380232"/>
                    <a:pt x="6883908" y="3489452"/>
                    <a:pt x="6748272" y="3489452"/>
                  </a:cubicBezTo>
                  <a:lnTo>
                    <a:pt x="245618" y="3489452"/>
                  </a:lnTo>
                  <a:cubicBezTo>
                    <a:pt x="109982" y="3489452"/>
                    <a:pt x="0" y="3380232"/>
                    <a:pt x="0" y="3245612"/>
                  </a:cubicBezTo>
                  <a:close/>
                </a:path>
              </a:pathLst>
            </a:custGeom>
            <a:solidFill>
              <a:srgbClr val="FAFAFA">
                <a:alpha val="90196"/>
              </a:srgbClr>
            </a:solidFill>
          </p:spPr>
        </p:sp>
        <p:sp>
          <p:nvSpPr>
            <p:cNvPr id="16" name="Freeform 16"/>
            <p:cNvSpPr/>
            <p:nvPr/>
          </p:nvSpPr>
          <p:spPr>
            <a:xfrm>
              <a:off x="0" y="0"/>
              <a:ext cx="7044690" cy="3540379"/>
            </a:xfrm>
            <a:custGeom>
              <a:avLst/>
              <a:gdLst/>
              <a:ahLst/>
              <a:cxnLst/>
              <a:rect l="l" t="t" r="r" b="b"/>
              <a:pathLst>
                <a:path w="7044690" h="3540379">
                  <a:moveTo>
                    <a:pt x="0" y="269240"/>
                  </a:moveTo>
                  <a:cubicBezTo>
                    <a:pt x="0" y="120396"/>
                    <a:pt x="121539" y="0"/>
                    <a:pt x="271018" y="0"/>
                  </a:cubicBezTo>
                  <a:lnTo>
                    <a:pt x="6773672" y="0"/>
                  </a:lnTo>
                  <a:lnTo>
                    <a:pt x="6773672" y="25400"/>
                  </a:lnTo>
                  <a:lnTo>
                    <a:pt x="6773672" y="0"/>
                  </a:lnTo>
                  <a:cubicBezTo>
                    <a:pt x="6923151" y="0"/>
                    <a:pt x="7044690" y="120396"/>
                    <a:pt x="7044690" y="269240"/>
                  </a:cubicBezTo>
                  <a:lnTo>
                    <a:pt x="7019290" y="269240"/>
                  </a:lnTo>
                  <a:lnTo>
                    <a:pt x="7044690" y="269240"/>
                  </a:lnTo>
                  <a:lnTo>
                    <a:pt x="7044690" y="3271012"/>
                  </a:lnTo>
                  <a:lnTo>
                    <a:pt x="7019290" y="3271012"/>
                  </a:lnTo>
                  <a:lnTo>
                    <a:pt x="7044690" y="3271012"/>
                  </a:lnTo>
                  <a:cubicBezTo>
                    <a:pt x="7044690" y="3419856"/>
                    <a:pt x="6923151" y="3540252"/>
                    <a:pt x="6773672" y="3540252"/>
                  </a:cubicBezTo>
                  <a:lnTo>
                    <a:pt x="6773672" y="3514852"/>
                  </a:lnTo>
                  <a:lnTo>
                    <a:pt x="6773672" y="3540252"/>
                  </a:lnTo>
                  <a:lnTo>
                    <a:pt x="271018" y="3540252"/>
                  </a:lnTo>
                  <a:lnTo>
                    <a:pt x="271018" y="3514852"/>
                  </a:lnTo>
                  <a:lnTo>
                    <a:pt x="271018" y="3540252"/>
                  </a:lnTo>
                  <a:cubicBezTo>
                    <a:pt x="121539" y="3540379"/>
                    <a:pt x="0" y="3419983"/>
                    <a:pt x="0" y="3271012"/>
                  </a:cubicBezTo>
                  <a:lnTo>
                    <a:pt x="0" y="269240"/>
                  </a:lnTo>
                  <a:lnTo>
                    <a:pt x="25400" y="269240"/>
                  </a:lnTo>
                  <a:lnTo>
                    <a:pt x="0" y="269240"/>
                  </a:lnTo>
                  <a:moveTo>
                    <a:pt x="50800" y="269240"/>
                  </a:moveTo>
                  <a:lnTo>
                    <a:pt x="50800" y="3271012"/>
                  </a:lnTo>
                  <a:lnTo>
                    <a:pt x="25400" y="3271012"/>
                  </a:lnTo>
                  <a:lnTo>
                    <a:pt x="50800" y="3271012"/>
                  </a:lnTo>
                  <a:cubicBezTo>
                    <a:pt x="50800" y="3391535"/>
                    <a:pt x="149225" y="3489452"/>
                    <a:pt x="271018" y="3489452"/>
                  </a:cubicBezTo>
                  <a:lnTo>
                    <a:pt x="6773672" y="3489452"/>
                  </a:lnTo>
                  <a:cubicBezTo>
                    <a:pt x="6895465" y="3489452"/>
                    <a:pt x="6993890" y="3391535"/>
                    <a:pt x="6993890" y="3271012"/>
                  </a:cubicBezTo>
                  <a:lnTo>
                    <a:pt x="6993890" y="269240"/>
                  </a:lnTo>
                  <a:cubicBezTo>
                    <a:pt x="6993890" y="148717"/>
                    <a:pt x="6895465" y="50800"/>
                    <a:pt x="6773672" y="50800"/>
                  </a:cubicBezTo>
                  <a:lnTo>
                    <a:pt x="271018" y="50800"/>
                  </a:lnTo>
                  <a:lnTo>
                    <a:pt x="271018" y="25400"/>
                  </a:lnTo>
                  <a:lnTo>
                    <a:pt x="271018" y="50800"/>
                  </a:lnTo>
                  <a:cubicBezTo>
                    <a:pt x="149225" y="50800"/>
                    <a:pt x="50800" y="148717"/>
                    <a:pt x="50800" y="269240"/>
                  </a:cubicBezTo>
                  <a:close/>
                </a:path>
              </a:pathLst>
            </a:custGeom>
            <a:solidFill>
              <a:srgbClr val="BDB8DF"/>
            </a:solidFill>
          </p:spPr>
        </p:sp>
      </p:grpSp>
      <p:grpSp>
        <p:nvGrpSpPr>
          <p:cNvPr id="17" name="Group 17"/>
          <p:cNvGrpSpPr/>
          <p:nvPr/>
        </p:nvGrpSpPr>
        <p:grpSpPr>
          <a:xfrm>
            <a:off x="6483102" y="4561434"/>
            <a:ext cx="152400" cy="2617143"/>
            <a:chOff x="0" y="0"/>
            <a:chExt cx="203200" cy="3489523"/>
          </a:xfrm>
        </p:grpSpPr>
        <p:sp>
          <p:nvSpPr>
            <p:cNvPr id="18" name="Freeform 18"/>
            <p:cNvSpPr/>
            <p:nvPr/>
          </p:nvSpPr>
          <p:spPr>
            <a:xfrm>
              <a:off x="0" y="0"/>
              <a:ext cx="203200" cy="3489579"/>
            </a:xfrm>
            <a:custGeom>
              <a:avLst/>
              <a:gdLst/>
              <a:ahLst/>
              <a:cxnLst/>
              <a:rect l="l" t="t" r="r" b="b"/>
              <a:pathLst>
                <a:path w="203200" h="3489579">
                  <a:moveTo>
                    <a:pt x="0" y="101600"/>
                  </a:moveTo>
                  <a:cubicBezTo>
                    <a:pt x="0" y="45466"/>
                    <a:pt x="45466" y="0"/>
                    <a:pt x="101600" y="0"/>
                  </a:cubicBezTo>
                  <a:cubicBezTo>
                    <a:pt x="157734" y="0"/>
                    <a:pt x="203200" y="45466"/>
                    <a:pt x="203200" y="101600"/>
                  </a:cubicBezTo>
                  <a:lnTo>
                    <a:pt x="203200" y="3387979"/>
                  </a:lnTo>
                  <a:cubicBezTo>
                    <a:pt x="203200" y="3444113"/>
                    <a:pt x="157734" y="3489579"/>
                    <a:pt x="101600" y="3489579"/>
                  </a:cubicBezTo>
                  <a:cubicBezTo>
                    <a:pt x="45466" y="3489579"/>
                    <a:pt x="0" y="3444113"/>
                    <a:pt x="0" y="3387979"/>
                  </a:cubicBezTo>
                  <a:close/>
                </a:path>
              </a:pathLst>
            </a:custGeom>
            <a:solidFill>
              <a:srgbClr val="5E4CE6"/>
            </a:solidFill>
          </p:spPr>
        </p:sp>
      </p:grpSp>
      <p:sp>
        <p:nvSpPr>
          <p:cNvPr id="19" name="TextBox 19"/>
          <p:cNvSpPr txBox="1"/>
          <p:nvPr/>
        </p:nvSpPr>
        <p:spPr>
          <a:xfrm>
            <a:off x="6957120" y="4844951"/>
            <a:ext cx="3544044" cy="481012"/>
          </a:xfrm>
          <a:prstGeom prst="rect">
            <a:avLst/>
          </a:prstGeom>
        </p:spPr>
        <p:txBody>
          <a:bodyPr lIns="0" tIns="0" rIns="0" bIns="0" rtlCol="0" anchor="t">
            <a:spAutoFit/>
          </a:bodyPr>
          <a:lstStyle/>
          <a:p>
            <a:pPr algn="l">
              <a:lnSpc>
                <a:spcPts val="3437"/>
              </a:lnSpc>
            </a:pPr>
            <a:r>
              <a:rPr lang="en-US" sz="2750" b="1">
                <a:solidFill>
                  <a:srgbClr val="2A2742"/>
                </a:solidFill>
                <a:latin typeface="Arimo Bold"/>
                <a:ea typeface="Arimo Bold"/>
                <a:cs typeface="Arimo Bold"/>
                <a:sym typeface="Arimo Bold"/>
              </a:rPr>
              <a:t>Simple Sites</a:t>
            </a:r>
          </a:p>
        </p:txBody>
      </p:sp>
      <p:sp>
        <p:nvSpPr>
          <p:cNvPr id="20" name="TextBox 20"/>
          <p:cNvSpPr txBox="1"/>
          <p:nvPr/>
        </p:nvSpPr>
        <p:spPr>
          <a:xfrm>
            <a:off x="6957120" y="5391299"/>
            <a:ext cx="4487912" cy="1465660"/>
          </a:xfrm>
          <a:prstGeom prst="rect">
            <a:avLst/>
          </a:prstGeom>
        </p:spPr>
        <p:txBody>
          <a:bodyPr lIns="0" tIns="0" rIns="0" bIns="0" rtlCol="0" anchor="t">
            <a:spAutoFit/>
          </a:bodyPr>
          <a:lstStyle/>
          <a:p>
            <a:pPr algn="l">
              <a:lnSpc>
                <a:spcPts val="3562"/>
              </a:lnSpc>
            </a:pPr>
            <a:r>
              <a:rPr lang="en-US" sz="2187">
                <a:solidFill>
                  <a:srgbClr val="2A2742"/>
                </a:solidFill>
                <a:latin typeface="Arimo"/>
                <a:ea typeface="Arimo"/>
                <a:cs typeface="Arimo"/>
                <a:sym typeface="Arimo"/>
              </a:rPr>
              <a:t>Many simple note-sharing sites lack moderation and good search, leading to poor quality materials.</a:t>
            </a:r>
          </a:p>
        </p:txBody>
      </p:sp>
      <p:grpSp>
        <p:nvGrpSpPr>
          <p:cNvPr id="21" name="Group 21"/>
          <p:cNvGrpSpPr/>
          <p:nvPr/>
        </p:nvGrpSpPr>
        <p:grpSpPr>
          <a:xfrm>
            <a:off x="12031116" y="4542384"/>
            <a:ext cx="5283547" cy="2655243"/>
            <a:chOff x="0" y="0"/>
            <a:chExt cx="7044730" cy="3540323"/>
          </a:xfrm>
        </p:grpSpPr>
        <p:sp>
          <p:nvSpPr>
            <p:cNvPr id="22" name="Freeform 22"/>
            <p:cNvSpPr/>
            <p:nvPr/>
          </p:nvSpPr>
          <p:spPr>
            <a:xfrm>
              <a:off x="25400" y="25400"/>
              <a:ext cx="6993890" cy="3489452"/>
            </a:xfrm>
            <a:custGeom>
              <a:avLst/>
              <a:gdLst/>
              <a:ahLst/>
              <a:cxnLst/>
              <a:rect l="l" t="t" r="r" b="b"/>
              <a:pathLst>
                <a:path w="6993890" h="3489452">
                  <a:moveTo>
                    <a:pt x="0" y="243840"/>
                  </a:moveTo>
                  <a:cubicBezTo>
                    <a:pt x="0" y="109220"/>
                    <a:pt x="109982" y="0"/>
                    <a:pt x="245618" y="0"/>
                  </a:cubicBezTo>
                  <a:lnTo>
                    <a:pt x="6748272" y="0"/>
                  </a:lnTo>
                  <a:cubicBezTo>
                    <a:pt x="6883908" y="0"/>
                    <a:pt x="6993890" y="109220"/>
                    <a:pt x="6993890" y="243840"/>
                  </a:cubicBezTo>
                  <a:lnTo>
                    <a:pt x="6993890" y="3245612"/>
                  </a:lnTo>
                  <a:cubicBezTo>
                    <a:pt x="6993890" y="3380232"/>
                    <a:pt x="6883908" y="3489452"/>
                    <a:pt x="6748272" y="3489452"/>
                  </a:cubicBezTo>
                  <a:lnTo>
                    <a:pt x="245618" y="3489452"/>
                  </a:lnTo>
                  <a:cubicBezTo>
                    <a:pt x="109982" y="3489452"/>
                    <a:pt x="0" y="3380232"/>
                    <a:pt x="0" y="3245612"/>
                  </a:cubicBezTo>
                  <a:close/>
                </a:path>
              </a:pathLst>
            </a:custGeom>
            <a:solidFill>
              <a:srgbClr val="FAFAFA">
                <a:alpha val="90196"/>
              </a:srgbClr>
            </a:solidFill>
          </p:spPr>
        </p:sp>
        <p:sp>
          <p:nvSpPr>
            <p:cNvPr id="23" name="Freeform 23"/>
            <p:cNvSpPr/>
            <p:nvPr/>
          </p:nvSpPr>
          <p:spPr>
            <a:xfrm>
              <a:off x="0" y="0"/>
              <a:ext cx="7044690" cy="3540379"/>
            </a:xfrm>
            <a:custGeom>
              <a:avLst/>
              <a:gdLst/>
              <a:ahLst/>
              <a:cxnLst/>
              <a:rect l="l" t="t" r="r" b="b"/>
              <a:pathLst>
                <a:path w="7044690" h="3540379">
                  <a:moveTo>
                    <a:pt x="0" y="269240"/>
                  </a:moveTo>
                  <a:cubicBezTo>
                    <a:pt x="0" y="120396"/>
                    <a:pt x="121539" y="0"/>
                    <a:pt x="271018" y="0"/>
                  </a:cubicBezTo>
                  <a:lnTo>
                    <a:pt x="6773672" y="0"/>
                  </a:lnTo>
                  <a:lnTo>
                    <a:pt x="6773672" y="25400"/>
                  </a:lnTo>
                  <a:lnTo>
                    <a:pt x="6773672" y="0"/>
                  </a:lnTo>
                  <a:cubicBezTo>
                    <a:pt x="6923151" y="0"/>
                    <a:pt x="7044690" y="120396"/>
                    <a:pt x="7044690" y="269240"/>
                  </a:cubicBezTo>
                  <a:lnTo>
                    <a:pt x="7019290" y="269240"/>
                  </a:lnTo>
                  <a:lnTo>
                    <a:pt x="7044690" y="269240"/>
                  </a:lnTo>
                  <a:lnTo>
                    <a:pt x="7044690" y="3271012"/>
                  </a:lnTo>
                  <a:lnTo>
                    <a:pt x="7019290" y="3271012"/>
                  </a:lnTo>
                  <a:lnTo>
                    <a:pt x="7044690" y="3271012"/>
                  </a:lnTo>
                  <a:cubicBezTo>
                    <a:pt x="7044690" y="3419856"/>
                    <a:pt x="6923151" y="3540252"/>
                    <a:pt x="6773672" y="3540252"/>
                  </a:cubicBezTo>
                  <a:lnTo>
                    <a:pt x="6773672" y="3514852"/>
                  </a:lnTo>
                  <a:lnTo>
                    <a:pt x="6773672" y="3540252"/>
                  </a:lnTo>
                  <a:lnTo>
                    <a:pt x="271018" y="3540252"/>
                  </a:lnTo>
                  <a:lnTo>
                    <a:pt x="271018" y="3514852"/>
                  </a:lnTo>
                  <a:lnTo>
                    <a:pt x="271018" y="3540252"/>
                  </a:lnTo>
                  <a:cubicBezTo>
                    <a:pt x="121539" y="3540379"/>
                    <a:pt x="0" y="3419983"/>
                    <a:pt x="0" y="3271012"/>
                  </a:cubicBezTo>
                  <a:lnTo>
                    <a:pt x="0" y="269240"/>
                  </a:lnTo>
                  <a:lnTo>
                    <a:pt x="25400" y="269240"/>
                  </a:lnTo>
                  <a:lnTo>
                    <a:pt x="0" y="269240"/>
                  </a:lnTo>
                  <a:moveTo>
                    <a:pt x="50800" y="269240"/>
                  </a:moveTo>
                  <a:lnTo>
                    <a:pt x="50800" y="3271012"/>
                  </a:lnTo>
                  <a:lnTo>
                    <a:pt x="25400" y="3271012"/>
                  </a:lnTo>
                  <a:lnTo>
                    <a:pt x="50800" y="3271012"/>
                  </a:lnTo>
                  <a:cubicBezTo>
                    <a:pt x="50800" y="3391535"/>
                    <a:pt x="149225" y="3489452"/>
                    <a:pt x="271018" y="3489452"/>
                  </a:cubicBezTo>
                  <a:lnTo>
                    <a:pt x="6773672" y="3489452"/>
                  </a:lnTo>
                  <a:cubicBezTo>
                    <a:pt x="6895465" y="3489452"/>
                    <a:pt x="6993890" y="3391535"/>
                    <a:pt x="6993890" y="3271012"/>
                  </a:cubicBezTo>
                  <a:lnTo>
                    <a:pt x="6993890" y="269240"/>
                  </a:lnTo>
                  <a:cubicBezTo>
                    <a:pt x="6993890" y="148717"/>
                    <a:pt x="6895465" y="50800"/>
                    <a:pt x="6773672" y="50800"/>
                  </a:cubicBezTo>
                  <a:lnTo>
                    <a:pt x="271018" y="50800"/>
                  </a:lnTo>
                  <a:lnTo>
                    <a:pt x="271018" y="25400"/>
                  </a:lnTo>
                  <a:lnTo>
                    <a:pt x="271018" y="50800"/>
                  </a:lnTo>
                  <a:cubicBezTo>
                    <a:pt x="149225" y="50800"/>
                    <a:pt x="50800" y="148717"/>
                    <a:pt x="50800" y="269240"/>
                  </a:cubicBezTo>
                  <a:close/>
                </a:path>
              </a:pathLst>
            </a:custGeom>
            <a:solidFill>
              <a:srgbClr val="BDB8DF"/>
            </a:solidFill>
          </p:spPr>
        </p:sp>
      </p:grpSp>
      <p:grpSp>
        <p:nvGrpSpPr>
          <p:cNvPr id="24" name="Group 24"/>
          <p:cNvGrpSpPr/>
          <p:nvPr/>
        </p:nvGrpSpPr>
        <p:grpSpPr>
          <a:xfrm>
            <a:off x="12012066" y="4561434"/>
            <a:ext cx="152400" cy="2617143"/>
            <a:chOff x="0" y="0"/>
            <a:chExt cx="203200" cy="3489523"/>
          </a:xfrm>
        </p:grpSpPr>
        <p:sp>
          <p:nvSpPr>
            <p:cNvPr id="25" name="Freeform 25"/>
            <p:cNvSpPr/>
            <p:nvPr/>
          </p:nvSpPr>
          <p:spPr>
            <a:xfrm>
              <a:off x="0" y="0"/>
              <a:ext cx="203200" cy="3489579"/>
            </a:xfrm>
            <a:custGeom>
              <a:avLst/>
              <a:gdLst/>
              <a:ahLst/>
              <a:cxnLst/>
              <a:rect l="l" t="t" r="r" b="b"/>
              <a:pathLst>
                <a:path w="203200" h="3489579">
                  <a:moveTo>
                    <a:pt x="0" y="101600"/>
                  </a:moveTo>
                  <a:cubicBezTo>
                    <a:pt x="0" y="45466"/>
                    <a:pt x="45466" y="0"/>
                    <a:pt x="101600" y="0"/>
                  </a:cubicBezTo>
                  <a:cubicBezTo>
                    <a:pt x="157734" y="0"/>
                    <a:pt x="203200" y="45466"/>
                    <a:pt x="203200" y="101600"/>
                  </a:cubicBezTo>
                  <a:lnTo>
                    <a:pt x="203200" y="3387979"/>
                  </a:lnTo>
                  <a:cubicBezTo>
                    <a:pt x="203200" y="3444113"/>
                    <a:pt x="157734" y="3489579"/>
                    <a:pt x="101600" y="3489579"/>
                  </a:cubicBezTo>
                  <a:cubicBezTo>
                    <a:pt x="45466" y="3489579"/>
                    <a:pt x="0" y="3444113"/>
                    <a:pt x="0" y="3387979"/>
                  </a:cubicBezTo>
                  <a:close/>
                </a:path>
              </a:pathLst>
            </a:custGeom>
            <a:solidFill>
              <a:srgbClr val="5E4CE6"/>
            </a:solidFill>
          </p:spPr>
        </p:sp>
      </p:grpSp>
      <p:sp>
        <p:nvSpPr>
          <p:cNvPr id="26" name="TextBox 26"/>
          <p:cNvSpPr txBox="1"/>
          <p:nvPr/>
        </p:nvSpPr>
        <p:spPr>
          <a:xfrm>
            <a:off x="12486085" y="4844951"/>
            <a:ext cx="3544044" cy="481012"/>
          </a:xfrm>
          <a:prstGeom prst="rect">
            <a:avLst/>
          </a:prstGeom>
        </p:spPr>
        <p:txBody>
          <a:bodyPr lIns="0" tIns="0" rIns="0" bIns="0" rtlCol="0" anchor="t">
            <a:spAutoFit/>
          </a:bodyPr>
          <a:lstStyle/>
          <a:p>
            <a:pPr algn="l">
              <a:lnSpc>
                <a:spcPts val="3437"/>
              </a:lnSpc>
            </a:pPr>
            <a:r>
              <a:rPr lang="en-US" sz="2750" b="1">
                <a:solidFill>
                  <a:srgbClr val="2A2742"/>
                </a:solidFill>
                <a:latin typeface="Arimo Bold"/>
                <a:ea typeface="Arimo Bold"/>
                <a:cs typeface="Arimo Bold"/>
                <a:sym typeface="Arimo Bold"/>
              </a:rPr>
              <a:t>Research Suggests</a:t>
            </a:r>
          </a:p>
        </p:txBody>
      </p:sp>
      <p:sp>
        <p:nvSpPr>
          <p:cNvPr id="27" name="TextBox 27"/>
          <p:cNvSpPr txBox="1"/>
          <p:nvPr/>
        </p:nvSpPr>
        <p:spPr>
          <a:xfrm>
            <a:off x="12486085" y="5391299"/>
            <a:ext cx="4487913" cy="1465660"/>
          </a:xfrm>
          <a:prstGeom prst="rect">
            <a:avLst/>
          </a:prstGeom>
        </p:spPr>
        <p:txBody>
          <a:bodyPr lIns="0" tIns="0" rIns="0" bIns="0" rtlCol="0" anchor="t">
            <a:spAutoFit/>
          </a:bodyPr>
          <a:lstStyle/>
          <a:p>
            <a:pPr algn="l">
              <a:lnSpc>
                <a:spcPts val="3562"/>
              </a:lnSpc>
            </a:pPr>
            <a:r>
              <a:rPr lang="en-US" sz="2187">
                <a:solidFill>
                  <a:srgbClr val="2A2742"/>
                </a:solidFill>
                <a:latin typeface="Arimo"/>
                <a:ea typeface="Arimo"/>
                <a:cs typeface="Arimo"/>
                <a:sym typeface="Arimo"/>
              </a:rPr>
              <a:t>A focused, easy-to-use system with moderation and a clean interface improves student learning.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AFA">
                <a:alpha val="90196"/>
              </a:srgbClr>
            </a:solidFill>
          </p:spPr>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4"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5"/>
              <a:stretch>
                <a:fillRect r="-1"/>
              </a:stretch>
            </a:blipFill>
          </p:spPr>
        </p:sp>
      </p:grpSp>
      <p:grpSp>
        <p:nvGrpSpPr>
          <p:cNvPr id="8" name="Group 8"/>
          <p:cNvGrpSpPr>
            <a:grpSpLocks noChangeAspect="1"/>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sp>
      </p:grpSp>
      <p:sp>
        <p:nvSpPr>
          <p:cNvPr id="10" name="TextBox 10"/>
          <p:cNvSpPr txBox="1"/>
          <p:nvPr/>
        </p:nvSpPr>
        <p:spPr>
          <a:xfrm>
            <a:off x="992238" y="866180"/>
            <a:ext cx="6379517" cy="845046"/>
          </a:xfrm>
          <a:prstGeom prst="rect">
            <a:avLst/>
          </a:prstGeom>
        </p:spPr>
        <p:txBody>
          <a:bodyPr lIns="0" tIns="0" rIns="0" bIns="0" rtlCol="0" anchor="t">
            <a:spAutoFit/>
          </a:bodyPr>
          <a:lstStyle/>
          <a:p>
            <a:pPr algn="l">
              <a:lnSpc>
                <a:spcPts val="6249"/>
              </a:lnSpc>
            </a:pPr>
            <a:r>
              <a:rPr lang="en-US" sz="4999" b="1">
                <a:solidFill>
                  <a:srgbClr val="231971"/>
                </a:solidFill>
                <a:latin typeface="Arimo Bold"/>
                <a:ea typeface="Arimo Bold"/>
                <a:cs typeface="Arimo Bold"/>
                <a:sym typeface="Arimo Bold"/>
              </a:rPr>
              <a:t>Objectives</a:t>
            </a:r>
          </a:p>
        </p:txBody>
      </p:sp>
      <p:grpSp>
        <p:nvGrpSpPr>
          <p:cNvPr id="11" name="Group 11"/>
          <p:cNvGrpSpPr/>
          <p:nvPr/>
        </p:nvGrpSpPr>
        <p:grpSpPr>
          <a:xfrm>
            <a:off x="987475" y="2089100"/>
            <a:ext cx="583555" cy="583555"/>
            <a:chOff x="0" y="0"/>
            <a:chExt cx="778073" cy="778073"/>
          </a:xfrm>
        </p:grpSpPr>
        <p:sp>
          <p:nvSpPr>
            <p:cNvPr id="12" name="Freeform 12"/>
            <p:cNvSpPr/>
            <p:nvPr/>
          </p:nvSpPr>
          <p:spPr>
            <a:xfrm>
              <a:off x="6350" y="6350"/>
              <a:ext cx="765302" cy="765429"/>
            </a:xfrm>
            <a:custGeom>
              <a:avLst/>
              <a:gdLst/>
              <a:ahLst/>
              <a:cxnLst/>
              <a:rect l="l" t="t" r="r" b="b"/>
              <a:pathLst>
                <a:path w="765302" h="765429">
                  <a:moveTo>
                    <a:pt x="0" y="142875"/>
                  </a:moveTo>
                  <a:cubicBezTo>
                    <a:pt x="0" y="64008"/>
                    <a:pt x="64008" y="0"/>
                    <a:pt x="142875" y="0"/>
                  </a:cubicBezTo>
                  <a:lnTo>
                    <a:pt x="622427" y="0"/>
                  </a:lnTo>
                  <a:cubicBezTo>
                    <a:pt x="701294" y="0"/>
                    <a:pt x="765302" y="64008"/>
                    <a:pt x="765302" y="142875"/>
                  </a:cubicBezTo>
                  <a:lnTo>
                    <a:pt x="765302" y="622427"/>
                  </a:lnTo>
                  <a:cubicBezTo>
                    <a:pt x="765302" y="701294"/>
                    <a:pt x="701294" y="765302"/>
                    <a:pt x="622427" y="765302"/>
                  </a:cubicBezTo>
                  <a:lnTo>
                    <a:pt x="142875" y="765302"/>
                  </a:lnTo>
                  <a:cubicBezTo>
                    <a:pt x="64008" y="765429"/>
                    <a:pt x="0" y="701421"/>
                    <a:pt x="0" y="622427"/>
                  </a:cubicBezTo>
                  <a:close/>
                </a:path>
              </a:pathLst>
            </a:custGeom>
            <a:solidFill>
              <a:srgbClr val="E9E6FA"/>
            </a:solidFill>
          </p:spPr>
        </p:sp>
        <p:sp>
          <p:nvSpPr>
            <p:cNvPr id="13" name="Freeform 13"/>
            <p:cNvSpPr/>
            <p:nvPr/>
          </p:nvSpPr>
          <p:spPr>
            <a:xfrm>
              <a:off x="0" y="0"/>
              <a:ext cx="778129" cy="778129"/>
            </a:xfrm>
            <a:custGeom>
              <a:avLst/>
              <a:gdLst/>
              <a:ahLst/>
              <a:cxnLst/>
              <a:rect l="l" t="t" r="r" b="b"/>
              <a:pathLst>
                <a:path w="778129" h="778129">
                  <a:moveTo>
                    <a:pt x="0" y="149225"/>
                  </a:moveTo>
                  <a:cubicBezTo>
                    <a:pt x="0" y="66802"/>
                    <a:pt x="66802" y="0"/>
                    <a:pt x="149225" y="0"/>
                  </a:cubicBezTo>
                  <a:lnTo>
                    <a:pt x="628777" y="0"/>
                  </a:lnTo>
                  <a:lnTo>
                    <a:pt x="628777" y="6350"/>
                  </a:lnTo>
                  <a:lnTo>
                    <a:pt x="628777" y="0"/>
                  </a:lnTo>
                  <a:cubicBezTo>
                    <a:pt x="711200" y="0"/>
                    <a:pt x="778129" y="66802"/>
                    <a:pt x="778129" y="149225"/>
                  </a:cubicBezTo>
                  <a:lnTo>
                    <a:pt x="771779" y="149225"/>
                  </a:lnTo>
                  <a:lnTo>
                    <a:pt x="778129" y="149225"/>
                  </a:lnTo>
                  <a:lnTo>
                    <a:pt x="778129" y="628777"/>
                  </a:lnTo>
                  <a:lnTo>
                    <a:pt x="771779" y="628777"/>
                  </a:lnTo>
                  <a:lnTo>
                    <a:pt x="778129" y="628777"/>
                  </a:lnTo>
                  <a:cubicBezTo>
                    <a:pt x="778129" y="711200"/>
                    <a:pt x="711200" y="778129"/>
                    <a:pt x="628777" y="778129"/>
                  </a:cubicBezTo>
                  <a:lnTo>
                    <a:pt x="628777" y="771779"/>
                  </a:lnTo>
                  <a:lnTo>
                    <a:pt x="628777" y="778129"/>
                  </a:lnTo>
                  <a:lnTo>
                    <a:pt x="149225" y="778129"/>
                  </a:lnTo>
                  <a:lnTo>
                    <a:pt x="149225" y="771779"/>
                  </a:lnTo>
                  <a:lnTo>
                    <a:pt x="149225" y="778129"/>
                  </a:lnTo>
                  <a:cubicBezTo>
                    <a:pt x="66802" y="778129"/>
                    <a:pt x="0" y="711200"/>
                    <a:pt x="0" y="628777"/>
                  </a:cubicBezTo>
                  <a:lnTo>
                    <a:pt x="0" y="149225"/>
                  </a:lnTo>
                  <a:lnTo>
                    <a:pt x="6350" y="149225"/>
                  </a:lnTo>
                  <a:lnTo>
                    <a:pt x="0" y="149225"/>
                  </a:lnTo>
                  <a:moveTo>
                    <a:pt x="12700" y="149225"/>
                  </a:moveTo>
                  <a:lnTo>
                    <a:pt x="12700" y="628777"/>
                  </a:lnTo>
                  <a:lnTo>
                    <a:pt x="6350" y="628777"/>
                  </a:lnTo>
                  <a:lnTo>
                    <a:pt x="12700" y="628777"/>
                  </a:lnTo>
                  <a:cubicBezTo>
                    <a:pt x="12700" y="704215"/>
                    <a:pt x="73787" y="765302"/>
                    <a:pt x="149225" y="765302"/>
                  </a:cubicBezTo>
                  <a:lnTo>
                    <a:pt x="628777" y="765302"/>
                  </a:lnTo>
                  <a:cubicBezTo>
                    <a:pt x="704215" y="765302"/>
                    <a:pt x="765302" y="704215"/>
                    <a:pt x="765302" y="628777"/>
                  </a:cubicBezTo>
                  <a:lnTo>
                    <a:pt x="765302" y="149225"/>
                  </a:lnTo>
                  <a:cubicBezTo>
                    <a:pt x="765429" y="73787"/>
                    <a:pt x="704215" y="12700"/>
                    <a:pt x="628777" y="12700"/>
                  </a:cubicBezTo>
                  <a:lnTo>
                    <a:pt x="149225" y="12700"/>
                  </a:lnTo>
                  <a:lnTo>
                    <a:pt x="149225" y="6350"/>
                  </a:lnTo>
                  <a:lnTo>
                    <a:pt x="149225" y="12700"/>
                  </a:lnTo>
                  <a:cubicBezTo>
                    <a:pt x="73787" y="12700"/>
                    <a:pt x="12700" y="73787"/>
                    <a:pt x="12700" y="149225"/>
                  </a:cubicBezTo>
                  <a:close/>
                </a:path>
              </a:pathLst>
            </a:custGeom>
            <a:solidFill>
              <a:srgbClr val="BDB8DF"/>
            </a:solidFill>
          </p:spPr>
        </p:sp>
      </p:grpSp>
      <p:sp>
        <p:nvSpPr>
          <p:cNvPr id="14" name="TextBox 14"/>
          <p:cNvSpPr txBox="1"/>
          <p:nvPr/>
        </p:nvSpPr>
        <p:spPr>
          <a:xfrm>
            <a:off x="1087859" y="2179736"/>
            <a:ext cx="382638" cy="440234"/>
          </a:xfrm>
          <a:prstGeom prst="rect">
            <a:avLst/>
          </a:prstGeom>
        </p:spPr>
        <p:txBody>
          <a:bodyPr lIns="0" tIns="0" rIns="0" bIns="0" rtlCol="0" anchor="t">
            <a:spAutoFit/>
          </a:bodyPr>
          <a:lstStyle/>
          <a:p>
            <a:pPr algn="ctr">
              <a:lnSpc>
                <a:spcPts val="3000"/>
              </a:lnSpc>
            </a:pPr>
            <a:r>
              <a:rPr lang="en-US" sz="3000" b="1">
                <a:solidFill>
                  <a:srgbClr val="2A2742"/>
                </a:solidFill>
                <a:latin typeface="Arimo Bold"/>
                <a:ea typeface="Arimo Bold"/>
                <a:cs typeface="Arimo Bold"/>
                <a:sym typeface="Arimo Bold"/>
              </a:rPr>
              <a:t>1</a:t>
            </a:r>
          </a:p>
        </p:txBody>
      </p:sp>
      <p:sp>
        <p:nvSpPr>
          <p:cNvPr id="15" name="TextBox 15"/>
          <p:cNvSpPr txBox="1"/>
          <p:nvPr/>
        </p:nvSpPr>
        <p:spPr>
          <a:xfrm>
            <a:off x="1821359" y="2152947"/>
            <a:ext cx="5766711" cy="403225"/>
          </a:xfrm>
          <a:prstGeom prst="rect">
            <a:avLst/>
          </a:prstGeom>
        </p:spPr>
        <p:txBody>
          <a:bodyPr lIns="0" tIns="0" rIns="0" bIns="0" rtlCol="0" anchor="t">
            <a:spAutoFit/>
          </a:bodyPr>
          <a:lstStyle/>
          <a:p>
            <a:pPr algn="l">
              <a:lnSpc>
                <a:spcPts val="3124"/>
              </a:lnSpc>
            </a:pPr>
            <a:r>
              <a:rPr lang="en-US" sz="2499" b="1">
                <a:solidFill>
                  <a:srgbClr val="2A2742"/>
                </a:solidFill>
                <a:latin typeface="Arimo Bold"/>
                <a:ea typeface="Arimo Bold"/>
                <a:cs typeface="Arimo Bold"/>
                <a:sym typeface="Arimo Bold"/>
              </a:rPr>
              <a:t>Secure &amp; Easy Platform</a:t>
            </a:r>
          </a:p>
        </p:txBody>
      </p:sp>
      <p:sp>
        <p:nvSpPr>
          <p:cNvPr id="16" name="TextBox 16"/>
          <p:cNvSpPr txBox="1"/>
          <p:nvPr/>
        </p:nvSpPr>
        <p:spPr>
          <a:xfrm>
            <a:off x="1821359" y="2656880"/>
            <a:ext cx="8616404" cy="484585"/>
          </a:xfrm>
          <a:prstGeom prst="rect">
            <a:avLst/>
          </a:prstGeom>
        </p:spPr>
        <p:txBody>
          <a:bodyPr lIns="0" tIns="0" rIns="0" bIns="0" rtlCol="0" anchor="t">
            <a:spAutoFit/>
          </a:bodyPr>
          <a:lstStyle/>
          <a:p>
            <a:pPr algn="l">
              <a:lnSpc>
                <a:spcPts val="3187"/>
              </a:lnSpc>
            </a:pPr>
            <a:r>
              <a:rPr lang="en-US" sz="2000" dirty="0">
                <a:solidFill>
                  <a:srgbClr val="2A2742"/>
                </a:solidFill>
                <a:latin typeface="Arimo"/>
                <a:ea typeface="Arimo"/>
                <a:cs typeface="Arimo"/>
                <a:sym typeface="Arimo"/>
              </a:rPr>
              <a:t>Create a safe and simple platform for sharing notes.</a:t>
            </a:r>
          </a:p>
        </p:txBody>
      </p:sp>
      <p:grpSp>
        <p:nvGrpSpPr>
          <p:cNvPr id="17" name="Group 17"/>
          <p:cNvGrpSpPr/>
          <p:nvPr/>
        </p:nvGrpSpPr>
        <p:grpSpPr>
          <a:xfrm>
            <a:off x="987475" y="3647034"/>
            <a:ext cx="583555" cy="583555"/>
            <a:chOff x="0" y="0"/>
            <a:chExt cx="778073" cy="778073"/>
          </a:xfrm>
        </p:grpSpPr>
        <p:sp>
          <p:nvSpPr>
            <p:cNvPr id="18" name="Freeform 18"/>
            <p:cNvSpPr/>
            <p:nvPr/>
          </p:nvSpPr>
          <p:spPr>
            <a:xfrm>
              <a:off x="6350" y="6350"/>
              <a:ext cx="765302" cy="765429"/>
            </a:xfrm>
            <a:custGeom>
              <a:avLst/>
              <a:gdLst/>
              <a:ahLst/>
              <a:cxnLst/>
              <a:rect l="l" t="t" r="r" b="b"/>
              <a:pathLst>
                <a:path w="765302" h="765429">
                  <a:moveTo>
                    <a:pt x="0" y="142875"/>
                  </a:moveTo>
                  <a:cubicBezTo>
                    <a:pt x="0" y="64008"/>
                    <a:pt x="64008" y="0"/>
                    <a:pt x="142875" y="0"/>
                  </a:cubicBezTo>
                  <a:lnTo>
                    <a:pt x="622427" y="0"/>
                  </a:lnTo>
                  <a:cubicBezTo>
                    <a:pt x="701294" y="0"/>
                    <a:pt x="765302" y="64008"/>
                    <a:pt x="765302" y="142875"/>
                  </a:cubicBezTo>
                  <a:lnTo>
                    <a:pt x="765302" y="622427"/>
                  </a:lnTo>
                  <a:cubicBezTo>
                    <a:pt x="765302" y="701294"/>
                    <a:pt x="701294" y="765302"/>
                    <a:pt x="622427" y="765302"/>
                  </a:cubicBezTo>
                  <a:lnTo>
                    <a:pt x="142875" y="765302"/>
                  </a:lnTo>
                  <a:cubicBezTo>
                    <a:pt x="64008" y="765429"/>
                    <a:pt x="0" y="701421"/>
                    <a:pt x="0" y="622427"/>
                  </a:cubicBezTo>
                  <a:close/>
                </a:path>
              </a:pathLst>
            </a:custGeom>
            <a:solidFill>
              <a:srgbClr val="E9E6FA"/>
            </a:solidFill>
          </p:spPr>
        </p:sp>
        <p:sp>
          <p:nvSpPr>
            <p:cNvPr id="19" name="Freeform 19"/>
            <p:cNvSpPr/>
            <p:nvPr/>
          </p:nvSpPr>
          <p:spPr>
            <a:xfrm>
              <a:off x="0" y="0"/>
              <a:ext cx="778129" cy="778129"/>
            </a:xfrm>
            <a:custGeom>
              <a:avLst/>
              <a:gdLst/>
              <a:ahLst/>
              <a:cxnLst/>
              <a:rect l="l" t="t" r="r" b="b"/>
              <a:pathLst>
                <a:path w="778129" h="778129">
                  <a:moveTo>
                    <a:pt x="0" y="149225"/>
                  </a:moveTo>
                  <a:cubicBezTo>
                    <a:pt x="0" y="66802"/>
                    <a:pt x="66802" y="0"/>
                    <a:pt x="149225" y="0"/>
                  </a:cubicBezTo>
                  <a:lnTo>
                    <a:pt x="628777" y="0"/>
                  </a:lnTo>
                  <a:lnTo>
                    <a:pt x="628777" y="6350"/>
                  </a:lnTo>
                  <a:lnTo>
                    <a:pt x="628777" y="0"/>
                  </a:lnTo>
                  <a:cubicBezTo>
                    <a:pt x="711200" y="0"/>
                    <a:pt x="778129" y="66802"/>
                    <a:pt x="778129" y="149225"/>
                  </a:cubicBezTo>
                  <a:lnTo>
                    <a:pt x="771779" y="149225"/>
                  </a:lnTo>
                  <a:lnTo>
                    <a:pt x="778129" y="149225"/>
                  </a:lnTo>
                  <a:lnTo>
                    <a:pt x="778129" y="628777"/>
                  </a:lnTo>
                  <a:lnTo>
                    <a:pt x="771779" y="628777"/>
                  </a:lnTo>
                  <a:lnTo>
                    <a:pt x="778129" y="628777"/>
                  </a:lnTo>
                  <a:cubicBezTo>
                    <a:pt x="778129" y="711200"/>
                    <a:pt x="711200" y="778129"/>
                    <a:pt x="628777" y="778129"/>
                  </a:cubicBezTo>
                  <a:lnTo>
                    <a:pt x="628777" y="771779"/>
                  </a:lnTo>
                  <a:lnTo>
                    <a:pt x="628777" y="778129"/>
                  </a:lnTo>
                  <a:lnTo>
                    <a:pt x="149225" y="778129"/>
                  </a:lnTo>
                  <a:lnTo>
                    <a:pt x="149225" y="771779"/>
                  </a:lnTo>
                  <a:lnTo>
                    <a:pt x="149225" y="778129"/>
                  </a:lnTo>
                  <a:cubicBezTo>
                    <a:pt x="66802" y="778129"/>
                    <a:pt x="0" y="711200"/>
                    <a:pt x="0" y="628777"/>
                  </a:cubicBezTo>
                  <a:lnTo>
                    <a:pt x="0" y="149225"/>
                  </a:lnTo>
                  <a:lnTo>
                    <a:pt x="6350" y="149225"/>
                  </a:lnTo>
                  <a:lnTo>
                    <a:pt x="0" y="149225"/>
                  </a:lnTo>
                  <a:moveTo>
                    <a:pt x="12700" y="149225"/>
                  </a:moveTo>
                  <a:lnTo>
                    <a:pt x="12700" y="628777"/>
                  </a:lnTo>
                  <a:lnTo>
                    <a:pt x="6350" y="628777"/>
                  </a:lnTo>
                  <a:lnTo>
                    <a:pt x="12700" y="628777"/>
                  </a:lnTo>
                  <a:cubicBezTo>
                    <a:pt x="12700" y="704215"/>
                    <a:pt x="73787" y="765302"/>
                    <a:pt x="149225" y="765302"/>
                  </a:cubicBezTo>
                  <a:lnTo>
                    <a:pt x="628777" y="765302"/>
                  </a:lnTo>
                  <a:cubicBezTo>
                    <a:pt x="704215" y="765302"/>
                    <a:pt x="765302" y="704215"/>
                    <a:pt x="765302" y="628777"/>
                  </a:cubicBezTo>
                  <a:lnTo>
                    <a:pt x="765302" y="149225"/>
                  </a:lnTo>
                  <a:cubicBezTo>
                    <a:pt x="765429" y="73787"/>
                    <a:pt x="704215" y="12700"/>
                    <a:pt x="628777" y="12700"/>
                  </a:cubicBezTo>
                  <a:lnTo>
                    <a:pt x="149225" y="12700"/>
                  </a:lnTo>
                  <a:lnTo>
                    <a:pt x="149225" y="6350"/>
                  </a:lnTo>
                  <a:lnTo>
                    <a:pt x="149225" y="12700"/>
                  </a:lnTo>
                  <a:cubicBezTo>
                    <a:pt x="73787" y="12700"/>
                    <a:pt x="12700" y="73787"/>
                    <a:pt x="12700" y="149225"/>
                  </a:cubicBezTo>
                  <a:close/>
                </a:path>
              </a:pathLst>
            </a:custGeom>
            <a:solidFill>
              <a:srgbClr val="BDB8DF"/>
            </a:solidFill>
          </p:spPr>
        </p:sp>
      </p:grpSp>
      <p:sp>
        <p:nvSpPr>
          <p:cNvPr id="20" name="TextBox 20"/>
          <p:cNvSpPr txBox="1"/>
          <p:nvPr/>
        </p:nvSpPr>
        <p:spPr>
          <a:xfrm>
            <a:off x="1087859" y="3737670"/>
            <a:ext cx="382638" cy="440234"/>
          </a:xfrm>
          <a:prstGeom prst="rect">
            <a:avLst/>
          </a:prstGeom>
        </p:spPr>
        <p:txBody>
          <a:bodyPr lIns="0" tIns="0" rIns="0" bIns="0" rtlCol="0" anchor="t">
            <a:spAutoFit/>
          </a:bodyPr>
          <a:lstStyle/>
          <a:p>
            <a:pPr algn="ctr">
              <a:lnSpc>
                <a:spcPts val="3000"/>
              </a:lnSpc>
            </a:pPr>
            <a:r>
              <a:rPr lang="en-US" sz="3000" b="1">
                <a:solidFill>
                  <a:srgbClr val="2A2742"/>
                </a:solidFill>
                <a:latin typeface="Arimo Bold"/>
                <a:ea typeface="Arimo Bold"/>
                <a:cs typeface="Arimo Bold"/>
                <a:sym typeface="Arimo Bold"/>
              </a:rPr>
              <a:t>2</a:t>
            </a:r>
          </a:p>
        </p:txBody>
      </p:sp>
      <p:sp>
        <p:nvSpPr>
          <p:cNvPr id="21" name="TextBox 21"/>
          <p:cNvSpPr txBox="1"/>
          <p:nvPr/>
        </p:nvSpPr>
        <p:spPr>
          <a:xfrm>
            <a:off x="1821359" y="3710880"/>
            <a:ext cx="3189685" cy="427136"/>
          </a:xfrm>
          <a:prstGeom prst="rect">
            <a:avLst/>
          </a:prstGeom>
        </p:spPr>
        <p:txBody>
          <a:bodyPr lIns="0" tIns="0" rIns="0" bIns="0" rtlCol="0" anchor="t">
            <a:spAutoFit/>
          </a:bodyPr>
          <a:lstStyle/>
          <a:p>
            <a:pPr algn="l">
              <a:lnSpc>
                <a:spcPts val="3124"/>
              </a:lnSpc>
            </a:pPr>
            <a:r>
              <a:rPr lang="en-US" sz="2499" b="1" dirty="0">
                <a:solidFill>
                  <a:srgbClr val="2A2742"/>
                </a:solidFill>
                <a:latin typeface="Arimo Bold"/>
                <a:ea typeface="Arimo Bold"/>
                <a:cs typeface="Arimo Bold"/>
                <a:sym typeface="Arimo Bold"/>
              </a:rPr>
              <a:t>Multiple File Types</a:t>
            </a:r>
          </a:p>
        </p:txBody>
      </p:sp>
      <p:sp>
        <p:nvSpPr>
          <p:cNvPr id="22" name="TextBox 22"/>
          <p:cNvSpPr txBox="1"/>
          <p:nvPr/>
        </p:nvSpPr>
        <p:spPr>
          <a:xfrm>
            <a:off x="1821359" y="4214812"/>
            <a:ext cx="8616404" cy="484585"/>
          </a:xfrm>
          <a:prstGeom prst="rect">
            <a:avLst/>
          </a:prstGeom>
        </p:spPr>
        <p:txBody>
          <a:bodyPr lIns="0" tIns="0" rIns="0" bIns="0" rtlCol="0" anchor="t">
            <a:spAutoFit/>
          </a:bodyPr>
          <a:lstStyle/>
          <a:p>
            <a:pPr algn="l">
              <a:lnSpc>
                <a:spcPts val="3187"/>
              </a:lnSpc>
            </a:pPr>
            <a:r>
              <a:rPr lang="en-US" sz="2000" dirty="0">
                <a:solidFill>
                  <a:srgbClr val="2A2742"/>
                </a:solidFill>
                <a:latin typeface="Arimo"/>
                <a:ea typeface="Arimo"/>
                <a:cs typeface="Arimo"/>
                <a:sym typeface="Arimo"/>
              </a:rPr>
              <a:t>Support various formats like PDF, DOCX, and PPTX.</a:t>
            </a:r>
          </a:p>
        </p:txBody>
      </p:sp>
      <p:grpSp>
        <p:nvGrpSpPr>
          <p:cNvPr id="23" name="Group 23"/>
          <p:cNvGrpSpPr/>
          <p:nvPr/>
        </p:nvGrpSpPr>
        <p:grpSpPr>
          <a:xfrm>
            <a:off x="987475" y="5204966"/>
            <a:ext cx="583555" cy="583555"/>
            <a:chOff x="0" y="0"/>
            <a:chExt cx="778073" cy="778073"/>
          </a:xfrm>
        </p:grpSpPr>
        <p:sp>
          <p:nvSpPr>
            <p:cNvPr id="24" name="Freeform 24"/>
            <p:cNvSpPr/>
            <p:nvPr/>
          </p:nvSpPr>
          <p:spPr>
            <a:xfrm>
              <a:off x="6350" y="6350"/>
              <a:ext cx="765302" cy="765429"/>
            </a:xfrm>
            <a:custGeom>
              <a:avLst/>
              <a:gdLst/>
              <a:ahLst/>
              <a:cxnLst/>
              <a:rect l="l" t="t" r="r" b="b"/>
              <a:pathLst>
                <a:path w="765302" h="765429">
                  <a:moveTo>
                    <a:pt x="0" y="142875"/>
                  </a:moveTo>
                  <a:cubicBezTo>
                    <a:pt x="0" y="64008"/>
                    <a:pt x="64008" y="0"/>
                    <a:pt x="142875" y="0"/>
                  </a:cubicBezTo>
                  <a:lnTo>
                    <a:pt x="622427" y="0"/>
                  </a:lnTo>
                  <a:cubicBezTo>
                    <a:pt x="701294" y="0"/>
                    <a:pt x="765302" y="64008"/>
                    <a:pt x="765302" y="142875"/>
                  </a:cubicBezTo>
                  <a:lnTo>
                    <a:pt x="765302" y="622427"/>
                  </a:lnTo>
                  <a:cubicBezTo>
                    <a:pt x="765302" y="701294"/>
                    <a:pt x="701294" y="765302"/>
                    <a:pt x="622427" y="765302"/>
                  </a:cubicBezTo>
                  <a:lnTo>
                    <a:pt x="142875" y="765302"/>
                  </a:lnTo>
                  <a:cubicBezTo>
                    <a:pt x="64008" y="765429"/>
                    <a:pt x="0" y="701421"/>
                    <a:pt x="0" y="622427"/>
                  </a:cubicBezTo>
                  <a:close/>
                </a:path>
              </a:pathLst>
            </a:custGeom>
            <a:solidFill>
              <a:srgbClr val="E9E6FA"/>
            </a:solidFill>
          </p:spPr>
        </p:sp>
        <p:sp>
          <p:nvSpPr>
            <p:cNvPr id="25" name="Freeform 25"/>
            <p:cNvSpPr/>
            <p:nvPr/>
          </p:nvSpPr>
          <p:spPr>
            <a:xfrm>
              <a:off x="0" y="0"/>
              <a:ext cx="778129" cy="778129"/>
            </a:xfrm>
            <a:custGeom>
              <a:avLst/>
              <a:gdLst/>
              <a:ahLst/>
              <a:cxnLst/>
              <a:rect l="l" t="t" r="r" b="b"/>
              <a:pathLst>
                <a:path w="778129" h="778129">
                  <a:moveTo>
                    <a:pt x="0" y="149225"/>
                  </a:moveTo>
                  <a:cubicBezTo>
                    <a:pt x="0" y="66802"/>
                    <a:pt x="66802" y="0"/>
                    <a:pt x="149225" y="0"/>
                  </a:cubicBezTo>
                  <a:lnTo>
                    <a:pt x="628777" y="0"/>
                  </a:lnTo>
                  <a:lnTo>
                    <a:pt x="628777" y="6350"/>
                  </a:lnTo>
                  <a:lnTo>
                    <a:pt x="628777" y="0"/>
                  </a:lnTo>
                  <a:cubicBezTo>
                    <a:pt x="711200" y="0"/>
                    <a:pt x="778129" y="66802"/>
                    <a:pt x="778129" y="149225"/>
                  </a:cubicBezTo>
                  <a:lnTo>
                    <a:pt x="771779" y="149225"/>
                  </a:lnTo>
                  <a:lnTo>
                    <a:pt x="778129" y="149225"/>
                  </a:lnTo>
                  <a:lnTo>
                    <a:pt x="778129" y="628777"/>
                  </a:lnTo>
                  <a:lnTo>
                    <a:pt x="771779" y="628777"/>
                  </a:lnTo>
                  <a:lnTo>
                    <a:pt x="778129" y="628777"/>
                  </a:lnTo>
                  <a:cubicBezTo>
                    <a:pt x="778129" y="711200"/>
                    <a:pt x="711200" y="778129"/>
                    <a:pt x="628777" y="778129"/>
                  </a:cubicBezTo>
                  <a:lnTo>
                    <a:pt x="628777" y="771779"/>
                  </a:lnTo>
                  <a:lnTo>
                    <a:pt x="628777" y="778129"/>
                  </a:lnTo>
                  <a:lnTo>
                    <a:pt x="149225" y="778129"/>
                  </a:lnTo>
                  <a:lnTo>
                    <a:pt x="149225" y="771779"/>
                  </a:lnTo>
                  <a:lnTo>
                    <a:pt x="149225" y="778129"/>
                  </a:lnTo>
                  <a:cubicBezTo>
                    <a:pt x="66802" y="778129"/>
                    <a:pt x="0" y="711200"/>
                    <a:pt x="0" y="628777"/>
                  </a:cubicBezTo>
                  <a:lnTo>
                    <a:pt x="0" y="149225"/>
                  </a:lnTo>
                  <a:lnTo>
                    <a:pt x="6350" y="149225"/>
                  </a:lnTo>
                  <a:lnTo>
                    <a:pt x="0" y="149225"/>
                  </a:lnTo>
                  <a:moveTo>
                    <a:pt x="12700" y="149225"/>
                  </a:moveTo>
                  <a:lnTo>
                    <a:pt x="12700" y="628777"/>
                  </a:lnTo>
                  <a:lnTo>
                    <a:pt x="6350" y="628777"/>
                  </a:lnTo>
                  <a:lnTo>
                    <a:pt x="12700" y="628777"/>
                  </a:lnTo>
                  <a:cubicBezTo>
                    <a:pt x="12700" y="704215"/>
                    <a:pt x="73787" y="765302"/>
                    <a:pt x="149225" y="765302"/>
                  </a:cubicBezTo>
                  <a:lnTo>
                    <a:pt x="628777" y="765302"/>
                  </a:lnTo>
                  <a:cubicBezTo>
                    <a:pt x="704215" y="765302"/>
                    <a:pt x="765302" y="704215"/>
                    <a:pt x="765302" y="628777"/>
                  </a:cubicBezTo>
                  <a:lnTo>
                    <a:pt x="765302" y="149225"/>
                  </a:lnTo>
                  <a:cubicBezTo>
                    <a:pt x="765429" y="73787"/>
                    <a:pt x="704215" y="12700"/>
                    <a:pt x="628777" y="12700"/>
                  </a:cubicBezTo>
                  <a:lnTo>
                    <a:pt x="149225" y="12700"/>
                  </a:lnTo>
                  <a:lnTo>
                    <a:pt x="149225" y="6350"/>
                  </a:lnTo>
                  <a:lnTo>
                    <a:pt x="149225" y="12700"/>
                  </a:lnTo>
                  <a:cubicBezTo>
                    <a:pt x="73787" y="12700"/>
                    <a:pt x="12700" y="73787"/>
                    <a:pt x="12700" y="149225"/>
                  </a:cubicBezTo>
                  <a:close/>
                </a:path>
              </a:pathLst>
            </a:custGeom>
            <a:solidFill>
              <a:srgbClr val="BDB8DF"/>
            </a:solidFill>
          </p:spPr>
        </p:sp>
      </p:grpSp>
      <p:sp>
        <p:nvSpPr>
          <p:cNvPr id="26" name="TextBox 26"/>
          <p:cNvSpPr txBox="1"/>
          <p:nvPr/>
        </p:nvSpPr>
        <p:spPr>
          <a:xfrm>
            <a:off x="1087859" y="5295602"/>
            <a:ext cx="382638" cy="440234"/>
          </a:xfrm>
          <a:prstGeom prst="rect">
            <a:avLst/>
          </a:prstGeom>
        </p:spPr>
        <p:txBody>
          <a:bodyPr lIns="0" tIns="0" rIns="0" bIns="0" rtlCol="0" anchor="t">
            <a:spAutoFit/>
          </a:bodyPr>
          <a:lstStyle/>
          <a:p>
            <a:pPr algn="ctr">
              <a:lnSpc>
                <a:spcPts val="3000"/>
              </a:lnSpc>
            </a:pPr>
            <a:r>
              <a:rPr lang="en-US" sz="3000" b="1">
                <a:solidFill>
                  <a:srgbClr val="2A2742"/>
                </a:solidFill>
                <a:latin typeface="Arimo Bold"/>
                <a:ea typeface="Arimo Bold"/>
                <a:cs typeface="Arimo Bold"/>
                <a:sym typeface="Arimo Bold"/>
              </a:rPr>
              <a:t>3</a:t>
            </a:r>
          </a:p>
        </p:txBody>
      </p:sp>
      <p:sp>
        <p:nvSpPr>
          <p:cNvPr id="27" name="TextBox 27"/>
          <p:cNvSpPr txBox="1"/>
          <p:nvPr/>
        </p:nvSpPr>
        <p:spPr>
          <a:xfrm>
            <a:off x="1821359" y="5268814"/>
            <a:ext cx="3189685" cy="427136"/>
          </a:xfrm>
          <a:prstGeom prst="rect">
            <a:avLst/>
          </a:prstGeom>
        </p:spPr>
        <p:txBody>
          <a:bodyPr lIns="0" tIns="0" rIns="0" bIns="0" rtlCol="0" anchor="t">
            <a:spAutoFit/>
          </a:bodyPr>
          <a:lstStyle/>
          <a:p>
            <a:pPr algn="l">
              <a:lnSpc>
                <a:spcPts val="3124"/>
              </a:lnSpc>
            </a:pPr>
            <a:r>
              <a:rPr lang="en-US" sz="2499" b="1">
                <a:solidFill>
                  <a:srgbClr val="2A2742"/>
                </a:solidFill>
                <a:latin typeface="Arimo Bold"/>
                <a:ea typeface="Arimo Bold"/>
                <a:cs typeface="Arimo Bold"/>
                <a:sym typeface="Arimo Bold"/>
              </a:rPr>
              <a:t>Search &amp; Filter</a:t>
            </a:r>
          </a:p>
        </p:txBody>
      </p:sp>
      <p:sp>
        <p:nvSpPr>
          <p:cNvPr id="28" name="TextBox 28"/>
          <p:cNvSpPr txBox="1"/>
          <p:nvPr/>
        </p:nvSpPr>
        <p:spPr>
          <a:xfrm>
            <a:off x="1821359" y="5772745"/>
            <a:ext cx="8616404" cy="484585"/>
          </a:xfrm>
          <a:prstGeom prst="rect">
            <a:avLst/>
          </a:prstGeom>
        </p:spPr>
        <p:txBody>
          <a:bodyPr lIns="0" tIns="0" rIns="0" bIns="0" rtlCol="0" anchor="t">
            <a:spAutoFit/>
          </a:bodyPr>
          <a:lstStyle/>
          <a:p>
            <a:pPr algn="l">
              <a:lnSpc>
                <a:spcPts val="3187"/>
              </a:lnSpc>
            </a:pPr>
            <a:r>
              <a:rPr lang="en-US" sz="2000">
                <a:solidFill>
                  <a:srgbClr val="2A2742"/>
                </a:solidFill>
                <a:latin typeface="Arimo"/>
                <a:ea typeface="Arimo"/>
                <a:cs typeface="Arimo"/>
                <a:sym typeface="Arimo"/>
              </a:rPr>
              <a:t>Provide tools to find notes faster.</a:t>
            </a:r>
          </a:p>
        </p:txBody>
      </p:sp>
      <p:grpSp>
        <p:nvGrpSpPr>
          <p:cNvPr id="29" name="Group 29"/>
          <p:cNvGrpSpPr/>
          <p:nvPr/>
        </p:nvGrpSpPr>
        <p:grpSpPr>
          <a:xfrm>
            <a:off x="987475" y="6762899"/>
            <a:ext cx="583555" cy="583555"/>
            <a:chOff x="0" y="0"/>
            <a:chExt cx="778073" cy="778073"/>
          </a:xfrm>
        </p:grpSpPr>
        <p:sp>
          <p:nvSpPr>
            <p:cNvPr id="30" name="Freeform 30"/>
            <p:cNvSpPr/>
            <p:nvPr/>
          </p:nvSpPr>
          <p:spPr>
            <a:xfrm>
              <a:off x="6350" y="6350"/>
              <a:ext cx="765302" cy="765429"/>
            </a:xfrm>
            <a:custGeom>
              <a:avLst/>
              <a:gdLst/>
              <a:ahLst/>
              <a:cxnLst/>
              <a:rect l="l" t="t" r="r" b="b"/>
              <a:pathLst>
                <a:path w="765302" h="765429">
                  <a:moveTo>
                    <a:pt x="0" y="142875"/>
                  </a:moveTo>
                  <a:cubicBezTo>
                    <a:pt x="0" y="64008"/>
                    <a:pt x="64008" y="0"/>
                    <a:pt x="142875" y="0"/>
                  </a:cubicBezTo>
                  <a:lnTo>
                    <a:pt x="622427" y="0"/>
                  </a:lnTo>
                  <a:cubicBezTo>
                    <a:pt x="701294" y="0"/>
                    <a:pt x="765302" y="64008"/>
                    <a:pt x="765302" y="142875"/>
                  </a:cubicBezTo>
                  <a:lnTo>
                    <a:pt x="765302" y="622427"/>
                  </a:lnTo>
                  <a:cubicBezTo>
                    <a:pt x="765302" y="701294"/>
                    <a:pt x="701294" y="765302"/>
                    <a:pt x="622427" y="765302"/>
                  </a:cubicBezTo>
                  <a:lnTo>
                    <a:pt x="142875" y="765302"/>
                  </a:lnTo>
                  <a:cubicBezTo>
                    <a:pt x="64008" y="765429"/>
                    <a:pt x="0" y="701421"/>
                    <a:pt x="0" y="622427"/>
                  </a:cubicBezTo>
                  <a:close/>
                </a:path>
              </a:pathLst>
            </a:custGeom>
            <a:solidFill>
              <a:srgbClr val="E9E6FA"/>
            </a:solidFill>
          </p:spPr>
        </p:sp>
        <p:sp>
          <p:nvSpPr>
            <p:cNvPr id="31" name="Freeform 31"/>
            <p:cNvSpPr/>
            <p:nvPr/>
          </p:nvSpPr>
          <p:spPr>
            <a:xfrm>
              <a:off x="0" y="0"/>
              <a:ext cx="778129" cy="778129"/>
            </a:xfrm>
            <a:custGeom>
              <a:avLst/>
              <a:gdLst/>
              <a:ahLst/>
              <a:cxnLst/>
              <a:rect l="l" t="t" r="r" b="b"/>
              <a:pathLst>
                <a:path w="778129" h="778129">
                  <a:moveTo>
                    <a:pt x="0" y="149225"/>
                  </a:moveTo>
                  <a:cubicBezTo>
                    <a:pt x="0" y="66802"/>
                    <a:pt x="66802" y="0"/>
                    <a:pt x="149225" y="0"/>
                  </a:cubicBezTo>
                  <a:lnTo>
                    <a:pt x="628777" y="0"/>
                  </a:lnTo>
                  <a:lnTo>
                    <a:pt x="628777" y="6350"/>
                  </a:lnTo>
                  <a:lnTo>
                    <a:pt x="628777" y="0"/>
                  </a:lnTo>
                  <a:cubicBezTo>
                    <a:pt x="711200" y="0"/>
                    <a:pt x="778129" y="66802"/>
                    <a:pt x="778129" y="149225"/>
                  </a:cubicBezTo>
                  <a:lnTo>
                    <a:pt x="771779" y="149225"/>
                  </a:lnTo>
                  <a:lnTo>
                    <a:pt x="778129" y="149225"/>
                  </a:lnTo>
                  <a:lnTo>
                    <a:pt x="778129" y="628777"/>
                  </a:lnTo>
                  <a:lnTo>
                    <a:pt x="771779" y="628777"/>
                  </a:lnTo>
                  <a:lnTo>
                    <a:pt x="778129" y="628777"/>
                  </a:lnTo>
                  <a:cubicBezTo>
                    <a:pt x="778129" y="711200"/>
                    <a:pt x="711200" y="778129"/>
                    <a:pt x="628777" y="778129"/>
                  </a:cubicBezTo>
                  <a:lnTo>
                    <a:pt x="628777" y="771779"/>
                  </a:lnTo>
                  <a:lnTo>
                    <a:pt x="628777" y="778129"/>
                  </a:lnTo>
                  <a:lnTo>
                    <a:pt x="149225" y="778129"/>
                  </a:lnTo>
                  <a:lnTo>
                    <a:pt x="149225" y="771779"/>
                  </a:lnTo>
                  <a:lnTo>
                    <a:pt x="149225" y="778129"/>
                  </a:lnTo>
                  <a:cubicBezTo>
                    <a:pt x="66802" y="778129"/>
                    <a:pt x="0" y="711200"/>
                    <a:pt x="0" y="628777"/>
                  </a:cubicBezTo>
                  <a:lnTo>
                    <a:pt x="0" y="149225"/>
                  </a:lnTo>
                  <a:lnTo>
                    <a:pt x="6350" y="149225"/>
                  </a:lnTo>
                  <a:lnTo>
                    <a:pt x="0" y="149225"/>
                  </a:lnTo>
                  <a:moveTo>
                    <a:pt x="12700" y="149225"/>
                  </a:moveTo>
                  <a:lnTo>
                    <a:pt x="12700" y="628777"/>
                  </a:lnTo>
                  <a:lnTo>
                    <a:pt x="6350" y="628777"/>
                  </a:lnTo>
                  <a:lnTo>
                    <a:pt x="12700" y="628777"/>
                  </a:lnTo>
                  <a:cubicBezTo>
                    <a:pt x="12700" y="704215"/>
                    <a:pt x="73787" y="765302"/>
                    <a:pt x="149225" y="765302"/>
                  </a:cubicBezTo>
                  <a:lnTo>
                    <a:pt x="628777" y="765302"/>
                  </a:lnTo>
                  <a:cubicBezTo>
                    <a:pt x="704215" y="765302"/>
                    <a:pt x="765302" y="704215"/>
                    <a:pt x="765302" y="628777"/>
                  </a:cubicBezTo>
                  <a:lnTo>
                    <a:pt x="765302" y="149225"/>
                  </a:lnTo>
                  <a:cubicBezTo>
                    <a:pt x="765429" y="73787"/>
                    <a:pt x="704215" y="12700"/>
                    <a:pt x="628777" y="12700"/>
                  </a:cubicBezTo>
                  <a:lnTo>
                    <a:pt x="149225" y="12700"/>
                  </a:lnTo>
                  <a:lnTo>
                    <a:pt x="149225" y="6350"/>
                  </a:lnTo>
                  <a:lnTo>
                    <a:pt x="149225" y="12700"/>
                  </a:lnTo>
                  <a:cubicBezTo>
                    <a:pt x="73787" y="12700"/>
                    <a:pt x="12700" y="73787"/>
                    <a:pt x="12700" y="149225"/>
                  </a:cubicBezTo>
                  <a:close/>
                </a:path>
              </a:pathLst>
            </a:custGeom>
            <a:solidFill>
              <a:srgbClr val="BDB8DF"/>
            </a:solidFill>
          </p:spPr>
        </p:sp>
      </p:grpSp>
      <p:sp>
        <p:nvSpPr>
          <p:cNvPr id="32" name="TextBox 32"/>
          <p:cNvSpPr txBox="1"/>
          <p:nvPr/>
        </p:nvSpPr>
        <p:spPr>
          <a:xfrm>
            <a:off x="1087859" y="6853535"/>
            <a:ext cx="382638" cy="440234"/>
          </a:xfrm>
          <a:prstGeom prst="rect">
            <a:avLst/>
          </a:prstGeom>
        </p:spPr>
        <p:txBody>
          <a:bodyPr lIns="0" tIns="0" rIns="0" bIns="0" rtlCol="0" anchor="t">
            <a:spAutoFit/>
          </a:bodyPr>
          <a:lstStyle/>
          <a:p>
            <a:pPr algn="ctr">
              <a:lnSpc>
                <a:spcPts val="3000"/>
              </a:lnSpc>
            </a:pPr>
            <a:r>
              <a:rPr lang="en-US" sz="3000" b="1">
                <a:solidFill>
                  <a:srgbClr val="2A2742"/>
                </a:solidFill>
                <a:latin typeface="Arimo Bold"/>
                <a:ea typeface="Arimo Bold"/>
                <a:cs typeface="Arimo Bold"/>
                <a:sym typeface="Arimo Bold"/>
              </a:rPr>
              <a:t>4</a:t>
            </a:r>
          </a:p>
        </p:txBody>
      </p:sp>
      <p:sp>
        <p:nvSpPr>
          <p:cNvPr id="33" name="TextBox 33"/>
          <p:cNvSpPr txBox="1"/>
          <p:nvPr/>
        </p:nvSpPr>
        <p:spPr>
          <a:xfrm>
            <a:off x="1821359" y="6826746"/>
            <a:ext cx="3189685" cy="427136"/>
          </a:xfrm>
          <a:prstGeom prst="rect">
            <a:avLst/>
          </a:prstGeom>
        </p:spPr>
        <p:txBody>
          <a:bodyPr lIns="0" tIns="0" rIns="0" bIns="0" rtlCol="0" anchor="t">
            <a:spAutoFit/>
          </a:bodyPr>
          <a:lstStyle/>
          <a:p>
            <a:pPr algn="l">
              <a:lnSpc>
                <a:spcPts val="3124"/>
              </a:lnSpc>
            </a:pPr>
            <a:r>
              <a:rPr lang="en-US" sz="2499" b="1">
                <a:solidFill>
                  <a:srgbClr val="2A2742"/>
                </a:solidFill>
                <a:latin typeface="Arimo Bold"/>
                <a:ea typeface="Arimo Bold"/>
                <a:cs typeface="Arimo Bold"/>
                <a:sym typeface="Arimo Bold"/>
              </a:rPr>
              <a:t>User Roles</a:t>
            </a:r>
          </a:p>
        </p:txBody>
      </p:sp>
      <p:sp>
        <p:nvSpPr>
          <p:cNvPr id="34" name="TextBox 34"/>
          <p:cNvSpPr txBox="1"/>
          <p:nvPr/>
        </p:nvSpPr>
        <p:spPr>
          <a:xfrm>
            <a:off x="1821359" y="7330677"/>
            <a:ext cx="8616404" cy="484585"/>
          </a:xfrm>
          <a:prstGeom prst="rect">
            <a:avLst/>
          </a:prstGeom>
        </p:spPr>
        <p:txBody>
          <a:bodyPr lIns="0" tIns="0" rIns="0" bIns="0" rtlCol="0" anchor="t">
            <a:spAutoFit/>
          </a:bodyPr>
          <a:lstStyle/>
          <a:p>
            <a:pPr algn="l">
              <a:lnSpc>
                <a:spcPts val="3187"/>
              </a:lnSpc>
            </a:pPr>
            <a:r>
              <a:rPr lang="en-US" sz="2000">
                <a:solidFill>
                  <a:srgbClr val="2A2742"/>
                </a:solidFill>
                <a:latin typeface="Arimo"/>
                <a:ea typeface="Arimo"/>
                <a:cs typeface="Arimo"/>
                <a:sym typeface="Arimo"/>
              </a:rPr>
              <a:t>Assign roles: Student, Teacher, and Admin.</a:t>
            </a:r>
          </a:p>
        </p:txBody>
      </p:sp>
      <p:grpSp>
        <p:nvGrpSpPr>
          <p:cNvPr id="35" name="Group 35"/>
          <p:cNvGrpSpPr/>
          <p:nvPr/>
        </p:nvGrpSpPr>
        <p:grpSpPr>
          <a:xfrm>
            <a:off x="987475" y="8320831"/>
            <a:ext cx="583555" cy="583555"/>
            <a:chOff x="0" y="0"/>
            <a:chExt cx="778073" cy="778073"/>
          </a:xfrm>
        </p:grpSpPr>
        <p:sp>
          <p:nvSpPr>
            <p:cNvPr id="36" name="Freeform 36"/>
            <p:cNvSpPr/>
            <p:nvPr/>
          </p:nvSpPr>
          <p:spPr>
            <a:xfrm>
              <a:off x="6350" y="6350"/>
              <a:ext cx="765302" cy="765429"/>
            </a:xfrm>
            <a:custGeom>
              <a:avLst/>
              <a:gdLst/>
              <a:ahLst/>
              <a:cxnLst/>
              <a:rect l="l" t="t" r="r" b="b"/>
              <a:pathLst>
                <a:path w="765302" h="765429">
                  <a:moveTo>
                    <a:pt x="0" y="142875"/>
                  </a:moveTo>
                  <a:cubicBezTo>
                    <a:pt x="0" y="64008"/>
                    <a:pt x="64008" y="0"/>
                    <a:pt x="142875" y="0"/>
                  </a:cubicBezTo>
                  <a:lnTo>
                    <a:pt x="622427" y="0"/>
                  </a:lnTo>
                  <a:cubicBezTo>
                    <a:pt x="701294" y="0"/>
                    <a:pt x="765302" y="64008"/>
                    <a:pt x="765302" y="142875"/>
                  </a:cubicBezTo>
                  <a:lnTo>
                    <a:pt x="765302" y="622427"/>
                  </a:lnTo>
                  <a:cubicBezTo>
                    <a:pt x="765302" y="701294"/>
                    <a:pt x="701294" y="765302"/>
                    <a:pt x="622427" y="765302"/>
                  </a:cubicBezTo>
                  <a:lnTo>
                    <a:pt x="142875" y="765302"/>
                  </a:lnTo>
                  <a:cubicBezTo>
                    <a:pt x="64008" y="765429"/>
                    <a:pt x="0" y="701421"/>
                    <a:pt x="0" y="622427"/>
                  </a:cubicBezTo>
                  <a:close/>
                </a:path>
              </a:pathLst>
            </a:custGeom>
            <a:solidFill>
              <a:srgbClr val="E9E6FA"/>
            </a:solidFill>
          </p:spPr>
        </p:sp>
        <p:sp>
          <p:nvSpPr>
            <p:cNvPr id="37" name="Freeform 37"/>
            <p:cNvSpPr/>
            <p:nvPr/>
          </p:nvSpPr>
          <p:spPr>
            <a:xfrm>
              <a:off x="0" y="0"/>
              <a:ext cx="778129" cy="778129"/>
            </a:xfrm>
            <a:custGeom>
              <a:avLst/>
              <a:gdLst/>
              <a:ahLst/>
              <a:cxnLst/>
              <a:rect l="l" t="t" r="r" b="b"/>
              <a:pathLst>
                <a:path w="778129" h="778129">
                  <a:moveTo>
                    <a:pt x="0" y="149225"/>
                  </a:moveTo>
                  <a:cubicBezTo>
                    <a:pt x="0" y="66802"/>
                    <a:pt x="66802" y="0"/>
                    <a:pt x="149225" y="0"/>
                  </a:cubicBezTo>
                  <a:lnTo>
                    <a:pt x="628777" y="0"/>
                  </a:lnTo>
                  <a:lnTo>
                    <a:pt x="628777" y="6350"/>
                  </a:lnTo>
                  <a:lnTo>
                    <a:pt x="628777" y="0"/>
                  </a:lnTo>
                  <a:cubicBezTo>
                    <a:pt x="711200" y="0"/>
                    <a:pt x="778129" y="66802"/>
                    <a:pt x="778129" y="149225"/>
                  </a:cubicBezTo>
                  <a:lnTo>
                    <a:pt x="771779" y="149225"/>
                  </a:lnTo>
                  <a:lnTo>
                    <a:pt x="778129" y="149225"/>
                  </a:lnTo>
                  <a:lnTo>
                    <a:pt x="778129" y="628777"/>
                  </a:lnTo>
                  <a:lnTo>
                    <a:pt x="771779" y="628777"/>
                  </a:lnTo>
                  <a:lnTo>
                    <a:pt x="778129" y="628777"/>
                  </a:lnTo>
                  <a:cubicBezTo>
                    <a:pt x="778129" y="711200"/>
                    <a:pt x="711200" y="778129"/>
                    <a:pt x="628777" y="778129"/>
                  </a:cubicBezTo>
                  <a:lnTo>
                    <a:pt x="628777" y="771779"/>
                  </a:lnTo>
                  <a:lnTo>
                    <a:pt x="628777" y="778129"/>
                  </a:lnTo>
                  <a:lnTo>
                    <a:pt x="149225" y="778129"/>
                  </a:lnTo>
                  <a:lnTo>
                    <a:pt x="149225" y="771779"/>
                  </a:lnTo>
                  <a:lnTo>
                    <a:pt x="149225" y="778129"/>
                  </a:lnTo>
                  <a:cubicBezTo>
                    <a:pt x="66802" y="778129"/>
                    <a:pt x="0" y="711200"/>
                    <a:pt x="0" y="628777"/>
                  </a:cubicBezTo>
                  <a:lnTo>
                    <a:pt x="0" y="149225"/>
                  </a:lnTo>
                  <a:lnTo>
                    <a:pt x="6350" y="149225"/>
                  </a:lnTo>
                  <a:lnTo>
                    <a:pt x="0" y="149225"/>
                  </a:lnTo>
                  <a:moveTo>
                    <a:pt x="12700" y="149225"/>
                  </a:moveTo>
                  <a:lnTo>
                    <a:pt x="12700" y="628777"/>
                  </a:lnTo>
                  <a:lnTo>
                    <a:pt x="6350" y="628777"/>
                  </a:lnTo>
                  <a:lnTo>
                    <a:pt x="12700" y="628777"/>
                  </a:lnTo>
                  <a:cubicBezTo>
                    <a:pt x="12700" y="704215"/>
                    <a:pt x="73787" y="765302"/>
                    <a:pt x="149225" y="765302"/>
                  </a:cubicBezTo>
                  <a:lnTo>
                    <a:pt x="628777" y="765302"/>
                  </a:lnTo>
                  <a:cubicBezTo>
                    <a:pt x="704215" y="765302"/>
                    <a:pt x="765302" y="704215"/>
                    <a:pt x="765302" y="628777"/>
                  </a:cubicBezTo>
                  <a:lnTo>
                    <a:pt x="765302" y="149225"/>
                  </a:lnTo>
                  <a:cubicBezTo>
                    <a:pt x="765429" y="73787"/>
                    <a:pt x="704215" y="12700"/>
                    <a:pt x="628777" y="12700"/>
                  </a:cubicBezTo>
                  <a:lnTo>
                    <a:pt x="149225" y="12700"/>
                  </a:lnTo>
                  <a:lnTo>
                    <a:pt x="149225" y="6350"/>
                  </a:lnTo>
                  <a:lnTo>
                    <a:pt x="149225" y="12700"/>
                  </a:lnTo>
                  <a:cubicBezTo>
                    <a:pt x="73787" y="12700"/>
                    <a:pt x="12700" y="73787"/>
                    <a:pt x="12700" y="149225"/>
                  </a:cubicBezTo>
                  <a:close/>
                </a:path>
              </a:pathLst>
            </a:custGeom>
            <a:solidFill>
              <a:srgbClr val="BDB8DF"/>
            </a:solidFill>
          </p:spPr>
        </p:sp>
      </p:grpSp>
      <p:sp>
        <p:nvSpPr>
          <p:cNvPr id="38" name="TextBox 38"/>
          <p:cNvSpPr txBox="1"/>
          <p:nvPr/>
        </p:nvSpPr>
        <p:spPr>
          <a:xfrm>
            <a:off x="1087859" y="8411467"/>
            <a:ext cx="382638" cy="440234"/>
          </a:xfrm>
          <a:prstGeom prst="rect">
            <a:avLst/>
          </a:prstGeom>
        </p:spPr>
        <p:txBody>
          <a:bodyPr lIns="0" tIns="0" rIns="0" bIns="0" rtlCol="0" anchor="t">
            <a:spAutoFit/>
          </a:bodyPr>
          <a:lstStyle/>
          <a:p>
            <a:pPr algn="ctr">
              <a:lnSpc>
                <a:spcPts val="3000"/>
              </a:lnSpc>
            </a:pPr>
            <a:r>
              <a:rPr lang="en-US" sz="3000" b="1">
                <a:solidFill>
                  <a:srgbClr val="2A2742"/>
                </a:solidFill>
                <a:latin typeface="Arimo Bold"/>
                <a:ea typeface="Arimo Bold"/>
                <a:cs typeface="Arimo Bold"/>
                <a:sym typeface="Arimo Bold"/>
              </a:rPr>
              <a:t>5</a:t>
            </a:r>
          </a:p>
        </p:txBody>
      </p:sp>
      <p:sp>
        <p:nvSpPr>
          <p:cNvPr id="39" name="TextBox 39"/>
          <p:cNvSpPr txBox="1"/>
          <p:nvPr/>
        </p:nvSpPr>
        <p:spPr>
          <a:xfrm>
            <a:off x="1821359" y="8384679"/>
            <a:ext cx="3189685" cy="427136"/>
          </a:xfrm>
          <a:prstGeom prst="rect">
            <a:avLst/>
          </a:prstGeom>
        </p:spPr>
        <p:txBody>
          <a:bodyPr lIns="0" tIns="0" rIns="0" bIns="0" rtlCol="0" anchor="t">
            <a:spAutoFit/>
          </a:bodyPr>
          <a:lstStyle/>
          <a:p>
            <a:pPr algn="l">
              <a:lnSpc>
                <a:spcPts val="3124"/>
              </a:lnSpc>
            </a:pPr>
            <a:r>
              <a:rPr lang="en-US" sz="2499" b="1">
                <a:solidFill>
                  <a:srgbClr val="2A2742"/>
                </a:solidFill>
                <a:latin typeface="Arimo Bold"/>
                <a:ea typeface="Arimo Bold"/>
                <a:cs typeface="Arimo Bold"/>
                <a:sym typeface="Arimo Bold"/>
              </a:rPr>
              <a:t>Content Quality</a:t>
            </a:r>
          </a:p>
        </p:txBody>
      </p:sp>
      <p:sp>
        <p:nvSpPr>
          <p:cNvPr id="40" name="TextBox 40"/>
          <p:cNvSpPr txBox="1"/>
          <p:nvPr/>
        </p:nvSpPr>
        <p:spPr>
          <a:xfrm>
            <a:off x="1821359" y="8888611"/>
            <a:ext cx="8616404" cy="484585"/>
          </a:xfrm>
          <a:prstGeom prst="rect">
            <a:avLst/>
          </a:prstGeom>
        </p:spPr>
        <p:txBody>
          <a:bodyPr lIns="0" tIns="0" rIns="0" bIns="0" rtlCol="0" anchor="t">
            <a:spAutoFit/>
          </a:bodyPr>
          <a:lstStyle/>
          <a:p>
            <a:pPr algn="l">
              <a:lnSpc>
                <a:spcPts val="3187"/>
              </a:lnSpc>
            </a:pPr>
            <a:r>
              <a:rPr lang="en-US" sz="2000">
                <a:solidFill>
                  <a:srgbClr val="2A2742"/>
                </a:solidFill>
                <a:latin typeface="Arimo"/>
                <a:ea typeface="Arimo"/>
                <a:cs typeface="Arimo"/>
                <a:sym typeface="Arimo"/>
              </a:rPr>
              <a:t>Ensure quality through admin approval.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AFA">
                <a:alpha val="90196"/>
              </a:srgbClr>
            </a:solidFill>
          </p:spPr>
        </p:sp>
      </p:grpSp>
      <p:sp>
        <p:nvSpPr>
          <p:cNvPr id="6" name="TextBox 6"/>
          <p:cNvSpPr txBox="1"/>
          <p:nvPr/>
        </p:nvSpPr>
        <p:spPr>
          <a:xfrm>
            <a:off x="992238" y="2534096"/>
            <a:ext cx="7088237" cy="943124"/>
          </a:xfrm>
          <a:prstGeom prst="rect">
            <a:avLst/>
          </a:prstGeom>
        </p:spPr>
        <p:txBody>
          <a:bodyPr lIns="0" tIns="0" rIns="0" bIns="0" rtlCol="0" anchor="t">
            <a:spAutoFit/>
          </a:bodyPr>
          <a:lstStyle/>
          <a:p>
            <a:pPr algn="l">
              <a:lnSpc>
                <a:spcPts val="6937"/>
              </a:lnSpc>
            </a:pPr>
            <a:r>
              <a:rPr lang="en-US" sz="5562" b="1">
                <a:solidFill>
                  <a:srgbClr val="231971"/>
                </a:solidFill>
                <a:latin typeface="Arimo Bold"/>
                <a:ea typeface="Arimo Bold"/>
                <a:cs typeface="Arimo Bold"/>
                <a:sym typeface="Arimo Bold"/>
              </a:rPr>
              <a:t>Problem Statement</a:t>
            </a:r>
          </a:p>
        </p:txBody>
      </p:sp>
      <p:sp>
        <p:nvSpPr>
          <p:cNvPr id="7" name="TextBox 7"/>
          <p:cNvSpPr txBox="1"/>
          <p:nvPr/>
        </p:nvSpPr>
        <p:spPr>
          <a:xfrm>
            <a:off x="992238" y="3939480"/>
            <a:ext cx="16303526" cy="558404"/>
          </a:xfrm>
          <a:prstGeom prst="rect">
            <a:avLst/>
          </a:prstGeom>
        </p:spPr>
        <p:txBody>
          <a:bodyPr lIns="0" tIns="0" rIns="0" bIns="0" rtlCol="0" anchor="t">
            <a:spAutoFit/>
          </a:bodyPr>
          <a:lstStyle/>
          <a:p>
            <a:pPr algn="l">
              <a:lnSpc>
                <a:spcPts val="3562"/>
              </a:lnSpc>
            </a:pPr>
            <a:r>
              <a:rPr lang="en-US" sz="2187">
                <a:solidFill>
                  <a:srgbClr val="2A2742"/>
                </a:solidFill>
                <a:latin typeface="Arimo"/>
                <a:ea typeface="Arimo"/>
                <a:cs typeface="Arimo"/>
                <a:sym typeface="Arimo"/>
              </a:rPr>
              <a:t>Students often face these issues:</a:t>
            </a:r>
          </a:p>
        </p:txBody>
      </p:sp>
      <p:grpSp>
        <p:nvGrpSpPr>
          <p:cNvPr id="8" name="Group 8"/>
          <p:cNvGrpSpPr/>
          <p:nvPr/>
        </p:nvGrpSpPr>
        <p:grpSpPr>
          <a:xfrm>
            <a:off x="987475" y="4812060"/>
            <a:ext cx="5254973" cy="2115890"/>
            <a:chOff x="0" y="0"/>
            <a:chExt cx="7006630" cy="2821187"/>
          </a:xfrm>
        </p:grpSpPr>
        <p:sp>
          <p:nvSpPr>
            <p:cNvPr id="9" name="Freeform 9"/>
            <p:cNvSpPr/>
            <p:nvPr/>
          </p:nvSpPr>
          <p:spPr>
            <a:xfrm>
              <a:off x="6350" y="6350"/>
              <a:ext cx="6993890" cy="2808478"/>
            </a:xfrm>
            <a:custGeom>
              <a:avLst/>
              <a:gdLst/>
              <a:ahLst/>
              <a:cxnLst/>
              <a:rect l="l" t="t" r="r" b="b"/>
              <a:pathLst>
                <a:path w="6993890" h="2808478">
                  <a:moveTo>
                    <a:pt x="0" y="158750"/>
                  </a:moveTo>
                  <a:cubicBezTo>
                    <a:pt x="0" y="71120"/>
                    <a:pt x="71247" y="0"/>
                    <a:pt x="159258" y="0"/>
                  </a:cubicBezTo>
                  <a:lnTo>
                    <a:pt x="6834759" y="0"/>
                  </a:lnTo>
                  <a:cubicBezTo>
                    <a:pt x="6922643" y="0"/>
                    <a:pt x="6993890" y="71120"/>
                    <a:pt x="6993890" y="158750"/>
                  </a:cubicBezTo>
                  <a:lnTo>
                    <a:pt x="6993890" y="2649728"/>
                  </a:lnTo>
                  <a:cubicBezTo>
                    <a:pt x="6993890" y="2737485"/>
                    <a:pt x="6922643" y="2808478"/>
                    <a:pt x="6834632" y="2808478"/>
                  </a:cubicBezTo>
                  <a:lnTo>
                    <a:pt x="159258" y="2808478"/>
                  </a:lnTo>
                  <a:cubicBezTo>
                    <a:pt x="71374" y="2808478"/>
                    <a:pt x="0" y="2737358"/>
                    <a:pt x="0" y="2649728"/>
                  </a:cubicBezTo>
                  <a:close/>
                </a:path>
              </a:pathLst>
            </a:custGeom>
            <a:solidFill>
              <a:srgbClr val="E9E6FA"/>
            </a:solidFill>
          </p:spPr>
        </p:sp>
        <p:sp>
          <p:nvSpPr>
            <p:cNvPr id="10" name="Freeform 10"/>
            <p:cNvSpPr/>
            <p:nvPr/>
          </p:nvSpPr>
          <p:spPr>
            <a:xfrm>
              <a:off x="0" y="0"/>
              <a:ext cx="7006717" cy="2821178"/>
            </a:xfrm>
            <a:custGeom>
              <a:avLst/>
              <a:gdLst/>
              <a:ahLst/>
              <a:cxnLst/>
              <a:rect l="l" t="t" r="r" b="b"/>
              <a:pathLst>
                <a:path w="7006717" h="2821178">
                  <a:moveTo>
                    <a:pt x="0" y="165100"/>
                  </a:moveTo>
                  <a:cubicBezTo>
                    <a:pt x="0" y="73914"/>
                    <a:pt x="74168" y="0"/>
                    <a:pt x="165608" y="0"/>
                  </a:cubicBezTo>
                  <a:lnTo>
                    <a:pt x="6841109" y="0"/>
                  </a:lnTo>
                  <a:lnTo>
                    <a:pt x="6841109" y="6350"/>
                  </a:lnTo>
                  <a:lnTo>
                    <a:pt x="6841109" y="0"/>
                  </a:lnTo>
                  <a:cubicBezTo>
                    <a:pt x="6932549" y="0"/>
                    <a:pt x="7006717" y="73914"/>
                    <a:pt x="7006717" y="165100"/>
                  </a:cubicBezTo>
                  <a:lnTo>
                    <a:pt x="7000367" y="165100"/>
                  </a:lnTo>
                  <a:lnTo>
                    <a:pt x="7006717" y="165100"/>
                  </a:lnTo>
                  <a:lnTo>
                    <a:pt x="7006717" y="2656078"/>
                  </a:lnTo>
                  <a:lnTo>
                    <a:pt x="7000367" y="2656078"/>
                  </a:lnTo>
                  <a:lnTo>
                    <a:pt x="7006717" y="2656078"/>
                  </a:lnTo>
                  <a:cubicBezTo>
                    <a:pt x="7006717" y="2747264"/>
                    <a:pt x="6932549" y="2821178"/>
                    <a:pt x="6841109" y="2821178"/>
                  </a:cubicBezTo>
                  <a:lnTo>
                    <a:pt x="6841109" y="2814828"/>
                  </a:lnTo>
                  <a:lnTo>
                    <a:pt x="6841109" y="2821178"/>
                  </a:lnTo>
                  <a:lnTo>
                    <a:pt x="165608" y="2821178"/>
                  </a:lnTo>
                  <a:lnTo>
                    <a:pt x="165608" y="2814828"/>
                  </a:lnTo>
                  <a:lnTo>
                    <a:pt x="165608" y="2821178"/>
                  </a:lnTo>
                  <a:cubicBezTo>
                    <a:pt x="74168" y="2821178"/>
                    <a:pt x="0" y="2747264"/>
                    <a:pt x="0" y="2656078"/>
                  </a:cubicBezTo>
                  <a:lnTo>
                    <a:pt x="0" y="165100"/>
                  </a:lnTo>
                  <a:lnTo>
                    <a:pt x="6350" y="165100"/>
                  </a:lnTo>
                  <a:lnTo>
                    <a:pt x="0" y="165100"/>
                  </a:lnTo>
                  <a:moveTo>
                    <a:pt x="12700" y="165100"/>
                  </a:moveTo>
                  <a:lnTo>
                    <a:pt x="12700" y="2656078"/>
                  </a:lnTo>
                  <a:lnTo>
                    <a:pt x="6350" y="2656078"/>
                  </a:lnTo>
                  <a:lnTo>
                    <a:pt x="12700" y="2656078"/>
                  </a:lnTo>
                  <a:cubicBezTo>
                    <a:pt x="12700" y="2740279"/>
                    <a:pt x="81153" y="2808478"/>
                    <a:pt x="165608" y="2808478"/>
                  </a:cubicBezTo>
                  <a:lnTo>
                    <a:pt x="6841109" y="2808478"/>
                  </a:lnTo>
                  <a:cubicBezTo>
                    <a:pt x="6925564" y="2808478"/>
                    <a:pt x="6994017" y="2740152"/>
                    <a:pt x="6994017" y="2656078"/>
                  </a:cubicBezTo>
                  <a:lnTo>
                    <a:pt x="6994017" y="165100"/>
                  </a:lnTo>
                  <a:cubicBezTo>
                    <a:pt x="6994017" y="80899"/>
                    <a:pt x="6925564" y="12700"/>
                    <a:pt x="6841109" y="12700"/>
                  </a:cubicBezTo>
                  <a:lnTo>
                    <a:pt x="165608" y="12700"/>
                  </a:lnTo>
                  <a:lnTo>
                    <a:pt x="165608" y="6350"/>
                  </a:lnTo>
                  <a:lnTo>
                    <a:pt x="165608" y="12700"/>
                  </a:lnTo>
                  <a:cubicBezTo>
                    <a:pt x="81153" y="12700"/>
                    <a:pt x="12700" y="81026"/>
                    <a:pt x="12700" y="165100"/>
                  </a:cubicBezTo>
                  <a:close/>
                </a:path>
              </a:pathLst>
            </a:custGeom>
            <a:solidFill>
              <a:srgbClr val="BDB8DF"/>
            </a:solidFill>
          </p:spPr>
        </p:sp>
      </p:grpSp>
      <p:sp>
        <p:nvSpPr>
          <p:cNvPr id="11" name="TextBox 11"/>
          <p:cNvSpPr txBox="1"/>
          <p:nvPr/>
        </p:nvSpPr>
        <p:spPr>
          <a:xfrm>
            <a:off x="1285280" y="5071765"/>
            <a:ext cx="3544044" cy="481012"/>
          </a:xfrm>
          <a:prstGeom prst="rect">
            <a:avLst/>
          </a:prstGeom>
        </p:spPr>
        <p:txBody>
          <a:bodyPr lIns="0" tIns="0" rIns="0" bIns="0" rtlCol="0" anchor="t">
            <a:spAutoFit/>
          </a:bodyPr>
          <a:lstStyle/>
          <a:p>
            <a:pPr algn="l">
              <a:lnSpc>
                <a:spcPts val="3437"/>
              </a:lnSpc>
            </a:pPr>
            <a:r>
              <a:rPr lang="en-US" sz="2750" b="1">
                <a:solidFill>
                  <a:srgbClr val="2A2742"/>
                </a:solidFill>
                <a:latin typeface="Arimo Bold"/>
                <a:ea typeface="Arimo Bold"/>
                <a:cs typeface="Arimo Bold"/>
                <a:sym typeface="Arimo Bold"/>
              </a:rPr>
              <a:t>Scattered Notes</a:t>
            </a:r>
          </a:p>
        </p:txBody>
      </p:sp>
      <p:sp>
        <p:nvSpPr>
          <p:cNvPr id="12" name="TextBox 12"/>
          <p:cNvSpPr txBox="1"/>
          <p:nvPr/>
        </p:nvSpPr>
        <p:spPr>
          <a:xfrm>
            <a:off x="1285280" y="5618113"/>
            <a:ext cx="4659362" cy="1012031"/>
          </a:xfrm>
          <a:prstGeom prst="rect">
            <a:avLst/>
          </a:prstGeom>
        </p:spPr>
        <p:txBody>
          <a:bodyPr lIns="0" tIns="0" rIns="0" bIns="0" rtlCol="0" anchor="t">
            <a:spAutoFit/>
          </a:bodyPr>
          <a:lstStyle/>
          <a:p>
            <a:pPr algn="l">
              <a:lnSpc>
                <a:spcPts val="3562"/>
              </a:lnSpc>
            </a:pPr>
            <a:r>
              <a:rPr lang="en-US" sz="2187">
                <a:solidFill>
                  <a:srgbClr val="2A2742"/>
                </a:solidFill>
                <a:latin typeface="Arimo"/>
                <a:ea typeface="Arimo"/>
                <a:cs typeface="Arimo"/>
                <a:sym typeface="Arimo"/>
              </a:rPr>
              <a:t>Notes are spread across different places.</a:t>
            </a:r>
          </a:p>
        </p:txBody>
      </p:sp>
      <p:grpSp>
        <p:nvGrpSpPr>
          <p:cNvPr id="13" name="Group 13"/>
          <p:cNvGrpSpPr/>
          <p:nvPr/>
        </p:nvGrpSpPr>
        <p:grpSpPr>
          <a:xfrm>
            <a:off x="6516440" y="4812060"/>
            <a:ext cx="5254973" cy="2115890"/>
            <a:chOff x="0" y="0"/>
            <a:chExt cx="7006630" cy="2821187"/>
          </a:xfrm>
        </p:grpSpPr>
        <p:sp>
          <p:nvSpPr>
            <p:cNvPr id="14" name="Freeform 14"/>
            <p:cNvSpPr/>
            <p:nvPr/>
          </p:nvSpPr>
          <p:spPr>
            <a:xfrm>
              <a:off x="6350" y="6350"/>
              <a:ext cx="6993890" cy="2808478"/>
            </a:xfrm>
            <a:custGeom>
              <a:avLst/>
              <a:gdLst/>
              <a:ahLst/>
              <a:cxnLst/>
              <a:rect l="l" t="t" r="r" b="b"/>
              <a:pathLst>
                <a:path w="6993890" h="2808478">
                  <a:moveTo>
                    <a:pt x="0" y="158750"/>
                  </a:moveTo>
                  <a:cubicBezTo>
                    <a:pt x="0" y="71120"/>
                    <a:pt x="71247" y="0"/>
                    <a:pt x="159258" y="0"/>
                  </a:cubicBezTo>
                  <a:lnTo>
                    <a:pt x="6834759" y="0"/>
                  </a:lnTo>
                  <a:cubicBezTo>
                    <a:pt x="6922643" y="0"/>
                    <a:pt x="6993890" y="71120"/>
                    <a:pt x="6993890" y="158750"/>
                  </a:cubicBezTo>
                  <a:lnTo>
                    <a:pt x="6993890" y="2649728"/>
                  </a:lnTo>
                  <a:cubicBezTo>
                    <a:pt x="6993890" y="2737485"/>
                    <a:pt x="6922643" y="2808478"/>
                    <a:pt x="6834632" y="2808478"/>
                  </a:cubicBezTo>
                  <a:lnTo>
                    <a:pt x="159258" y="2808478"/>
                  </a:lnTo>
                  <a:cubicBezTo>
                    <a:pt x="71374" y="2808478"/>
                    <a:pt x="0" y="2737358"/>
                    <a:pt x="0" y="2649728"/>
                  </a:cubicBezTo>
                  <a:close/>
                </a:path>
              </a:pathLst>
            </a:custGeom>
            <a:solidFill>
              <a:srgbClr val="E9E6FA"/>
            </a:solidFill>
          </p:spPr>
        </p:sp>
        <p:sp>
          <p:nvSpPr>
            <p:cNvPr id="15" name="Freeform 15"/>
            <p:cNvSpPr/>
            <p:nvPr/>
          </p:nvSpPr>
          <p:spPr>
            <a:xfrm>
              <a:off x="0" y="0"/>
              <a:ext cx="7006717" cy="2821178"/>
            </a:xfrm>
            <a:custGeom>
              <a:avLst/>
              <a:gdLst/>
              <a:ahLst/>
              <a:cxnLst/>
              <a:rect l="l" t="t" r="r" b="b"/>
              <a:pathLst>
                <a:path w="7006717" h="2821178">
                  <a:moveTo>
                    <a:pt x="0" y="165100"/>
                  </a:moveTo>
                  <a:cubicBezTo>
                    <a:pt x="0" y="73914"/>
                    <a:pt x="74168" y="0"/>
                    <a:pt x="165608" y="0"/>
                  </a:cubicBezTo>
                  <a:lnTo>
                    <a:pt x="6841109" y="0"/>
                  </a:lnTo>
                  <a:lnTo>
                    <a:pt x="6841109" y="6350"/>
                  </a:lnTo>
                  <a:lnTo>
                    <a:pt x="6841109" y="0"/>
                  </a:lnTo>
                  <a:cubicBezTo>
                    <a:pt x="6932549" y="0"/>
                    <a:pt x="7006717" y="73914"/>
                    <a:pt x="7006717" y="165100"/>
                  </a:cubicBezTo>
                  <a:lnTo>
                    <a:pt x="7000367" y="165100"/>
                  </a:lnTo>
                  <a:lnTo>
                    <a:pt x="7006717" y="165100"/>
                  </a:lnTo>
                  <a:lnTo>
                    <a:pt x="7006717" y="2656078"/>
                  </a:lnTo>
                  <a:lnTo>
                    <a:pt x="7000367" y="2656078"/>
                  </a:lnTo>
                  <a:lnTo>
                    <a:pt x="7006717" y="2656078"/>
                  </a:lnTo>
                  <a:cubicBezTo>
                    <a:pt x="7006717" y="2747264"/>
                    <a:pt x="6932549" y="2821178"/>
                    <a:pt x="6841109" y="2821178"/>
                  </a:cubicBezTo>
                  <a:lnTo>
                    <a:pt x="6841109" y="2814828"/>
                  </a:lnTo>
                  <a:lnTo>
                    <a:pt x="6841109" y="2821178"/>
                  </a:lnTo>
                  <a:lnTo>
                    <a:pt x="165608" y="2821178"/>
                  </a:lnTo>
                  <a:lnTo>
                    <a:pt x="165608" y="2814828"/>
                  </a:lnTo>
                  <a:lnTo>
                    <a:pt x="165608" y="2821178"/>
                  </a:lnTo>
                  <a:cubicBezTo>
                    <a:pt x="74168" y="2821178"/>
                    <a:pt x="0" y="2747264"/>
                    <a:pt x="0" y="2656078"/>
                  </a:cubicBezTo>
                  <a:lnTo>
                    <a:pt x="0" y="165100"/>
                  </a:lnTo>
                  <a:lnTo>
                    <a:pt x="6350" y="165100"/>
                  </a:lnTo>
                  <a:lnTo>
                    <a:pt x="0" y="165100"/>
                  </a:lnTo>
                  <a:moveTo>
                    <a:pt x="12700" y="165100"/>
                  </a:moveTo>
                  <a:lnTo>
                    <a:pt x="12700" y="2656078"/>
                  </a:lnTo>
                  <a:lnTo>
                    <a:pt x="6350" y="2656078"/>
                  </a:lnTo>
                  <a:lnTo>
                    <a:pt x="12700" y="2656078"/>
                  </a:lnTo>
                  <a:cubicBezTo>
                    <a:pt x="12700" y="2740279"/>
                    <a:pt x="81153" y="2808478"/>
                    <a:pt x="165608" y="2808478"/>
                  </a:cubicBezTo>
                  <a:lnTo>
                    <a:pt x="6841109" y="2808478"/>
                  </a:lnTo>
                  <a:cubicBezTo>
                    <a:pt x="6925564" y="2808478"/>
                    <a:pt x="6994017" y="2740152"/>
                    <a:pt x="6994017" y="2656078"/>
                  </a:cubicBezTo>
                  <a:lnTo>
                    <a:pt x="6994017" y="165100"/>
                  </a:lnTo>
                  <a:cubicBezTo>
                    <a:pt x="6994017" y="80899"/>
                    <a:pt x="6925564" y="12700"/>
                    <a:pt x="6841109" y="12700"/>
                  </a:cubicBezTo>
                  <a:lnTo>
                    <a:pt x="165608" y="12700"/>
                  </a:lnTo>
                  <a:lnTo>
                    <a:pt x="165608" y="6350"/>
                  </a:lnTo>
                  <a:lnTo>
                    <a:pt x="165608" y="12700"/>
                  </a:lnTo>
                  <a:cubicBezTo>
                    <a:pt x="81153" y="12700"/>
                    <a:pt x="12700" y="81026"/>
                    <a:pt x="12700" y="165100"/>
                  </a:cubicBezTo>
                  <a:close/>
                </a:path>
              </a:pathLst>
            </a:custGeom>
            <a:solidFill>
              <a:srgbClr val="BDB8DF"/>
            </a:solidFill>
          </p:spPr>
        </p:sp>
      </p:grpSp>
      <p:sp>
        <p:nvSpPr>
          <p:cNvPr id="16" name="TextBox 16"/>
          <p:cNvSpPr txBox="1"/>
          <p:nvPr/>
        </p:nvSpPr>
        <p:spPr>
          <a:xfrm>
            <a:off x="6814245" y="5071765"/>
            <a:ext cx="3544044" cy="481012"/>
          </a:xfrm>
          <a:prstGeom prst="rect">
            <a:avLst/>
          </a:prstGeom>
        </p:spPr>
        <p:txBody>
          <a:bodyPr lIns="0" tIns="0" rIns="0" bIns="0" rtlCol="0" anchor="t">
            <a:spAutoFit/>
          </a:bodyPr>
          <a:lstStyle/>
          <a:p>
            <a:pPr algn="l">
              <a:lnSpc>
                <a:spcPts val="3437"/>
              </a:lnSpc>
            </a:pPr>
            <a:r>
              <a:rPr lang="en-US" sz="2750" b="1">
                <a:solidFill>
                  <a:srgbClr val="2A2742"/>
                </a:solidFill>
                <a:latin typeface="Arimo Bold"/>
                <a:ea typeface="Arimo Bold"/>
                <a:cs typeface="Arimo Bold"/>
                <a:sym typeface="Arimo Bold"/>
              </a:rPr>
              <a:t>Lost or Outdated</a:t>
            </a:r>
          </a:p>
        </p:txBody>
      </p:sp>
      <p:sp>
        <p:nvSpPr>
          <p:cNvPr id="17" name="TextBox 17"/>
          <p:cNvSpPr txBox="1"/>
          <p:nvPr/>
        </p:nvSpPr>
        <p:spPr>
          <a:xfrm>
            <a:off x="6814245" y="5618113"/>
            <a:ext cx="4659362" cy="1012031"/>
          </a:xfrm>
          <a:prstGeom prst="rect">
            <a:avLst/>
          </a:prstGeom>
        </p:spPr>
        <p:txBody>
          <a:bodyPr lIns="0" tIns="0" rIns="0" bIns="0" rtlCol="0" anchor="t">
            <a:spAutoFit/>
          </a:bodyPr>
          <a:lstStyle/>
          <a:p>
            <a:pPr algn="l">
              <a:lnSpc>
                <a:spcPts val="3562"/>
              </a:lnSpc>
            </a:pPr>
            <a:r>
              <a:rPr lang="en-US" sz="2187">
                <a:solidFill>
                  <a:srgbClr val="2A2742"/>
                </a:solidFill>
                <a:latin typeface="Arimo"/>
                <a:ea typeface="Arimo"/>
                <a:cs typeface="Arimo"/>
                <a:sym typeface="Arimo"/>
              </a:rPr>
              <a:t>Resources can be lost or become old.</a:t>
            </a:r>
          </a:p>
        </p:txBody>
      </p:sp>
      <p:grpSp>
        <p:nvGrpSpPr>
          <p:cNvPr id="18" name="Group 18"/>
          <p:cNvGrpSpPr/>
          <p:nvPr/>
        </p:nvGrpSpPr>
        <p:grpSpPr>
          <a:xfrm>
            <a:off x="12045404" y="4812060"/>
            <a:ext cx="5254973" cy="2115890"/>
            <a:chOff x="0" y="0"/>
            <a:chExt cx="7006630" cy="2821187"/>
          </a:xfrm>
        </p:grpSpPr>
        <p:sp>
          <p:nvSpPr>
            <p:cNvPr id="19" name="Freeform 19"/>
            <p:cNvSpPr/>
            <p:nvPr/>
          </p:nvSpPr>
          <p:spPr>
            <a:xfrm>
              <a:off x="6350" y="6350"/>
              <a:ext cx="6993890" cy="2808478"/>
            </a:xfrm>
            <a:custGeom>
              <a:avLst/>
              <a:gdLst/>
              <a:ahLst/>
              <a:cxnLst/>
              <a:rect l="l" t="t" r="r" b="b"/>
              <a:pathLst>
                <a:path w="6993890" h="2808478">
                  <a:moveTo>
                    <a:pt x="0" y="158750"/>
                  </a:moveTo>
                  <a:cubicBezTo>
                    <a:pt x="0" y="71120"/>
                    <a:pt x="71247" y="0"/>
                    <a:pt x="159258" y="0"/>
                  </a:cubicBezTo>
                  <a:lnTo>
                    <a:pt x="6834759" y="0"/>
                  </a:lnTo>
                  <a:cubicBezTo>
                    <a:pt x="6922643" y="0"/>
                    <a:pt x="6993890" y="71120"/>
                    <a:pt x="6993890" y="158750"/>
                  </a:cubicBezTo>
                  <a:lnTo>
                    <a:pt x="6993890" y="2649728"/>
                  </a:lnTo>
                  <a:cubicBezTo>
                    <a:pt x="6993890" y="2737485"/>
                    <a:pt x="6922643" y="2808478"/>
                    <a:pt x="6834632" y="2808478"/>
                  </a:cubicBezTo>
                  <a:lnTo>
                    <a:pt x="159258" y="2808478"/>
                  </a:lnTo>
                  <a:cubicBezTo>
                    <a:pt x="71374" y="2808478"/>
                    <a:pt x="0" y="2737358"/>
                    <a:pt x="0" y="2649728"/>
                  </a:cubicBezTo>
                  <a:close/>
                </a:path>
              </a:pathLst>
            </a:custGeom>
            <a:solidFill>
              <a:srgbClr val="E9E6FA"/>
            </a:solidFill>
          </p:spPr>
        </p:sp>
        <p:sp>
          <p:nvSpPr>
            <p:cNvPr id="20" name="Freeform 20"/>
            <p:cNvSpPr/>
            <p:nvPr/>
          </p:nvSpPr>
          <p:spPr>
            <a:xfrm>
              <a:off x="0" y="0"/>
              <a:ext cx="7006717" cy="2821178"/>
            </a:xfrm>
            <a:custGeom>
              <a:avLst/>
              <a:gdLst/>
              <a:ahLst/>
              <a:cxnLst/>
              <a:rect l="l" t="t" r="r" b="b"/>
              <a:pathLst>
                <a:path w="7006717" h="2821178">
                  <a:moveTo>
                    <a:pt x="0" y="165100"/>
                  </a:moveTo>
                  <a:cubicBezTo>
                    <a:pt x="0" y="73914"/>
                    <a:pt x="74168" y="0"/>
                    <a:pt x="165608" y="0"/>
                  </a:cubicBezTo>
                  <a:lnTo>
                    <a:pt x="6841109" y="0"/>
                  </a:lnTo>
                  <a:lnTo>
                    <a:pt x="6841109" y="6350"/>
                  </a:lnTo>
                  <a:lnTo>
                    <a:pt x="6841109" y="0"/>
                  </a:lnTo>
                  <a:cubicBezTo>
                    <a:pt x="6932549" y="0"/>
                    <a:pt x="7006717" y="73914"/>
                    <a:pt x="7006717" y="165100"/>
                  </a:cubicBezTo>
                  <a:lnTo>
                    <a:pt x="7000367" y="165100"/>
                  </a:lnTo>
                  <a:lnTo>
                    <a:pt x="7006717" y="165100"/>
                  </a:lnTo>
                  <a:lnTo>
                    <a:pt x="7006717" y="2656078"/>
                  </a:lnTo>
                  <a:lnTo>
                    <a:pt x="7000367" y="2656078"/>
                  </a:lnTo>
                  <a:lnTo>
                    <a:pt x="7006717" y="2656078"/>
                  </a:lnTo>
                  <a:cubicBezTo>
                    <a:pt x="7006717" y="2747264"/>
                    <a:pt x="6932549" y="2821178"/>
                    <a:pt x="6841109" y="2821178"/>
                  </a:cubicBezTo>
                  <a:lnTo>
                    <a:pt x="6841109" y="2814828"/>
                  </a:lnTo>
                  <a:lnTo>
                    <a:pt x="6841109" y="2821178"/>
                  </a:lnTo>
                  <a:lnTo>
                    <a:pt x="165608" y="2821178"/>
                  </a:lnTo>
                  <a:lnTo>
                    <a:pt x="165608" y="2814828"/>
                  </a:lnTo>
                  <a:lnTo>
                    <a:pt x="165608" y="2821178"/>
                  </a:lnTo>
                  <a:cubicBezTo>
                    <a:pt x="74168" y="2821178"/>
                    <a:pt x="0" y="2747264"/>
                    <a:pt x="0" y="2656078"/>
                  </a:cubicBezTo>
                  <a:lnTo>
                    <a:pt x="0" y="165100"/>
                  </a:lnTo>
                  <a:lnTo>
                    <a:pt x="6350" y="165100"/>
                  </a:lnTo>
                  <a:lnTo>
                    <a:pt x="0" y="165100"/>
                  </a:lnTo>
                  <a:moveTo>
                    <a:pt x="12700" y="165100"/>
                  </a:moveTo>
                  <a:lnTo>
                    <a:pt x="12700" y="2656078"/>
                  </a:lnTo>
                  <a:lnTo>
                    <a:pt x="6350" y="2656078"/>
                  </a:lnTo>
                  <a:lnTo>
                    <a:pt x="12700" y="2656078"/>
                  </a:lnTo>
                  <a:cubicBezTo>
                    <a:pt x="12700" y="2740279"/>
                    <a:pt x="81153" y="2808478"/>
                    <a:pt x="165608" y="2808478"/>
                  </a:cubicBezTo>
                  <a:lnTo>
                    <a:pt x="6841109" y="2808478"/>
                  </a:lnTo>
                  <a:cubicBezTo>
                    <a:pt x="6925564" y="2808478"/>
                    <a:pt x="6994017" y="2740152"/>
                    <a:pt x="6994017" y="2656078"/>
                  </a:cubicBezTo>
                  <a:lnTo>
                    <a:pt x="6994017" y="165100"/>
                  </a:lnTo>
                  <a:cubicBezTo>
                    <a:pt x="6994017" y="80899"/>
                    <a:pt x="6925564" y="12700"/>
                    <a:pt x="6841109" y="12700"/>
                  </a:cubicBezTo>
                  <a:lnTo>
                    <a:pt x="165608" y="12700"/>
                  </a:lnTo>
                  <a:lnTo>
                    <a:pt x="165608" y="6350"/>
                  </a:lnTo>
                  <a:lnTo>
                    <a:pt x="165608" y="12700"/>
                  </a:lnTo>
                  <a:cubicBezTo>
                    <a:pt x="81153" y="12700"/>
                    <a:pt x="12700" y="81026"/>
                    <a:pt x="12700" y="165100"/>
                  </a:cubicBezTo>
                  <a:close/>
                </a:path>
              </a:pathLst>
            </a:custGeom>
            <a:solidFill>
              <a:srgbClr val="BDB8DF"/>
            </a:solidFill>
          </p:spPr>
        </p:sp>
      </p:grpSp>
      <p:sp>
        <p:nvSpPr>
          <p:cNvPr id="21" name="TextBox 21"/>
          <p:cNvSpPr txBox="1"/>
          <p:nvPr/>
        </p:nvSpPr>
        <p:spPr>
          <a:xfrm>
            <a:off x="12343210" y="5071765"/>
            <a:ext cx="3544044" cy="481012"/>
          </a:xfrm>
          <a:prstGeom prst="rect">
            <a:avLst/>
          </a:prstGeom>
        </p:spPr>
        <p:txBody>
          <a:bodyPr lIns="0" tIns="0" rIns="0" bIns="0" rtlCol="0" anchor="t">
            <a:spAutoFit/>
          </a:bodyPr>
          <a:lstStyle/>
          <a:p>
            <a:pPr algn="l">
              <a:lnSpc>
                <a:spcPts val="3437"/>
              </a:lnSpc>
            </a:pPr>
            <a:r>
              <a:rPr lang="en-US" sz="2750" b="1">
                <a:solidFill>
                  <a:srgbClr val="2A2742"/>
                </a:solidFill>
                <a:latin typeface="Arimo Bold"/>
                <a:ea typeface="Arimo Bold"/>
                <a:cs typeface="Arimo Bold"/>
                <a:sym typeface="Arimo Bold"/>
              </a:rPr>
              <a:t>Poor Quality</a:t>
            </a:r>
          </a:p>
        </p:txBody>
      </p:sp>
      <p:sp>
        <p:nvSpPr>
          <p:cNvPr id="22" name="TextBox 22"/>
          <p:cNvSpPr txBox="1"/>
          <p:nvPr/>
        </p:nvSpPr>
        <p:spPr>
          <a:xfrm>
            <a:off x="12343210" y="5618113"/>
            <a:ext cx="4659362" cy="1012031"/>
          </a:xfrm>
          <a:prstGeom prst="rect">
            <a:avLst/>
          </a:prstGeom>
        </p:spPr>
        <p:txBody>
          <a:bodyPr lIns="0" tIns="0" rIns="0" bIns="0" rtlCol="0" anchor="t">
            <a:spAutoFit/>
          </a:bodyPr>
          <a:lstStyle/>
          <a:p>
            <a:pPr algn="l">
              <a:lnSpc>
                <a:spcPts val="3562"/>
              </a:lnSpc>
            </a:pPr>
            <a:r>
              <a:rPr lang="en-US" sz="2187">
                <a:solidFill>
                  <a:srgbClr val="2A2742"/>
                </a:solidFill>
                <a:latin typeface="Arimo"/>
                <a:ea typeface="Arimo"/>
                <a:cs typeface="Arimo"/>
                <a:sym typeface="Arimo"/>
              </a:rPr>
              <a:t>Notes may be low quality and hard to trust.</a:t>
            </a:r>
          </a:p>
        </p:txBody>
      </p:sp>
      <p:sp>
        <p:nvSpPr>
          <p:cNvPr id="23" name="TextBox 23"/>
          <p:cNvSpPr txBox="1"/>
          <p:nvPr/>
        </p:nvSpPr>
        <p:spPr>
          <a:xfrm>
            <a:off x="992238" y="7137350"/>
            <a:ext cx="16303526" cy="558404"/>
          </a:xfrm>
          <a:prstGeom prst="rect">
            <a:avLst/>
          </a:prstGeom>
        </p:spPr>
        <p:txBody>
          <a:bodyPr lIns="0" tIns="0" rIns="0" bIns="0" rtlCol="0" anchor="t">
            <a:spAutoFit/>
          </a:bodyPr>
          <a:lstStyle/>
          <a:p>
            <a:pPr algn="l">
              <a:lnSpc>
                <a:spcPts val="3562"/>
              </a:lnSpc>
            </a:pPr>
            <a:r>
              <a:rPr lang="en-US" sz="2187">
                <a:solidFill>
                  <a:srgbClr val="2A2742"/>
                </a:solidFill>
                <a:latin typeface="Arimo"/>
                <a:ea typeface="Arimo"/>
                <a:cs typeface="Arimo"/>
                <a:sym typeface="Arimo"/>
              </a:rPr>
              <a:t>Our solution: Create one central platform where all notes are organized, searchable, and approved for quality.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AFA">
                <a:alpha val="90196"/>
              </a:srgbClr>
            </a:solidFill>
          </p:spPr>
        </p:sp>
      </p:grpSp>
      <p:sp>
        <p:nvSpPr>
          <p:cNvPr id="6" name="TextBox 6"/>
          <p:cNvSpPr txBox="1"/>
          <p:nvPr/>
        </p:nvSpPr>
        <p:spPr>
          <a:xfrm>
            <a:off x="992238" y="1502122"/>
            <a:ext cx="7088237" cy="943124"/>
          </a:xfrm>
          <a:prstGeom prst="rect">
            <a:avLst/>
          </a:prstGeom>
        </p:spPr>
        <p:txBody>
          <a:bodyPr lIns="0" tIns="0" rIns="0" bIns="0" rtlCol="0" anchor="t">
            <a:spAutoFit/>
          </a:bodyPr>
          <a:lstStyle/>
          <a:p>
            <a:pPr algn="l">
              <a:lnSpc>
                <a:spcPts val="6937"/>
              </a:lnSpc>
            </a:pPr>
            <a:r>
              <a:rPr lang="en-US" sz="5562" b="1">
                <a:solidFill>
                  <a:srgbClr val="231971"/>
                </a:solidFill>
                <a:latin typeface="Arimo Bold"/>
                <a:ea typeface="Arimo Bold"/>
                <a:cs typeface="Arimo Bold"/>
                <a:sym typeface="Arimo Bold"/>
              </a:rPr>
              <a:t>Plan for Future Work</a:t>
            </a:r>
          </a:p>
        </p:txBody>
      </p:sp>
      <p:grpSp>
        <p:nvGrpSpPr>
          <p:cNvPr id="7" name="Group 7"/>
          <p:cNvGrpSpPr/>
          <p:nvPr/>
        </p:nvGrpSpPr>
        <p:grpSpPr>
          <a:xfrm>
            <a:off x="987475" y="2865685"/>
            <a:ext cx="8019455" cy="2796331"/>
            <a:chOff x="0" y="0"/>
            <a:chExt cx="10692607" cy="3728442"/>
          </a:xfrm>
        </p:grpSpPr>
        <p:sp>
          <p:nvSpPr>
            <p:cNvPr id="8" name="Freeform 8"/>
            <p:cNvSpPr/>
            <p:nvPr/>
          </p:nvSpPr>
          <p:spPr>
            <a:xfrm>
              <a:off x="6350" y="6350"/>
              <a:ext cx="10679938" cy="3715766"/>
            </a:xfrm>
            <a:custGeom>
              <a:avLst/>
              <a:gdLst/>
              <a:ahLst/>
              <a:cxnLst/>
              <a:rect l="l" t="t" r="r" b="b"/>
              <a:pathLst>
                <a:path w="10679938" h="3715766">
                  <a:moveTo>
                    <a:pt x="0" y="158750"/>
                  </a:moveTo>
                  <a:cubicBezTo>
                    <a:pt x="0" y="71120"/>
                    <a:pt x="71247" y="0"/>
                    <a:pt x="159131" y="0"/>
                  </a:cubicBezTo>
                  <a:lnTo>
                    <a:pt x="10520807" y="0"/>
                  </a:lnTo>
                  <a:cubicBezTo>
                    <a:pt x="10608690" y="0"/>
                    <a:pt x="10679938" y="71120"/>
                    <a:pt x="10679938" y="158750"/>
                  </a:cubicBezTo>
                  <a:lnTo>
                    <a:pt x="10679938" y="3557016"/>
                  </a:lnTo>
                  <a:cubicBezTo>
                    <a:pt x="10679938" y="3644646"/>
                    <a:pt x="10608690" y="3715766"/>
                    <a:pt x="10520807" y="3715766"/>
                  </a:cubicBezTo>
                  <a:lnTo>
                    <a:pt x="159131" y="3715766"/>
                  </a:lnTo>
                  <a:cubicBezTo>
                    <a:pt x="71247" y="3715766"/>
                    <a:pt x="0" y="3644646"/>
                    <a:pt x="0" y="3557016"/>
                  </a:cubicBezTo>
                  <a:close/>
                </a:path>
              </a:pathLst>
            </a:custGeom>
            <a:solidFill>
              <a:srgbClr val="E9E6FA"/>
            </a:solidFill>
          </p:spPr>
        </p:sp>
        <p:sp>
          <p:nvSpPr>
            <p:cNvPr id="9" name="Freeform 9"/>
            <p:cNvSpPr/>
            <p:nvPr/>
          </p:nvSpPr>
          <p:spPr>
            <a:xfrm>
              <a:off x="0" y="0"/>
              <a:ext cx="10692638" cy="3728466"/>
            </a:xfrm>
            <a:custGeom>
              <a:avLst/>
              <a:gdLst/>
              <a:ahLst/>
              <a:cxnLst/>
              <a:rect l="l" t="t" r="r" b="b"/>
              <a:pathLst>
                <a:path w="10692638" h="3728466">
                  <a:moveTo>
                    <a:pt x="0" y="165100"/>
                  </a:moveTo>
                  <a:cubicBezTo>
                    <a:pt x="0" y="73914"/>
                    <a:pt x="74041" y="0"/>
                    <a:pt x="165481" y="0"/>
                  </a:cubicBezTo>
                  <a:lnTo>
                    <a:pt x="10527157" y="0"/>
                  </a:lnTo>
                  <a:lnTo>
                    <a:pt x="10527157" y="6350"/>
                  </a:lnTo>
                  <a:lnTo>
                    <a:pt x="10527157" y="0"/>
                  </a:lnTo>
                  <a:cubicBezTo>
                    <a:pt x="10618597" y="0"/>
                    <a:pt x="10692638" y="73914"/>
                    <a:pt x="10692638" y="165100"/>
                  </a:cubicBezTo>
                  <a:lnTo>
                    <a:pt x="10686288" y="165100"/>
                  </a:lnTo>
                  <a:lnTo>
                    <a:pt x="10692638" y="165100"/>
                  </a:lnTo>
                  <a:lnTo>
                    <a:pt x="10692638" y="3563366"/>
                  </a:lnTo>
                  <a:lnTo>
                    <a:pt x="10686288" y="3563366"/>
                  </a:lnTo>
                  <a:lnTo>
                    <a:pt x="10692638" y="3563366"/>
                  </a:lnTo>
                  <a:cubicBezTo>
                    <a:pt x="10692638" y="3654552"/>
                    <a:pt x="10618597" y="3728466"/>
                    <a:pt x="10527157" y="3728466"/>
                  </a:cubicBezTo>
                  <a:lnTo>
                    <a:pt x="10527157" y="3722116"/>
                  </a:lnTo>
                  <a:lnTo>
                    <a:pt x="10527157" y="3728466"/>
                  </a:lnTo>
                  <a:lnTo>
                    <a:pt x="165481" y="3728466"/>
                  </a:lnTo>
                  <a:lnTo>
                    <a:pt x="165481" y="3722116"/>
                  </a:lnTo>
                  <a:lnTo>
                    <a:pt x="165481" y="3728466"/>
                  </a:lnTo>
                  <a:cubicBezTo>
                    <a:pt x="74041" y="3728466"/>
                    <a:pt x="0" y="3654552"/>
                    <a:pt x="0" y="3563366"/>
                  </a:cubicBezTo>
                  <a:lnTo>
                    <a:pt x="0" y="165100"/>
                  </a:lnTo>
                  <a:lnTo>
                    <a:pt x="6350" y="165100"/>
                  </a:lnTo>
                  <a:lnTo>
                    <a:pt x="0" y="165100"/>
                  </a:lnTo>
                  <a:moveTo>
                    <a:pt x="12700" y="165100"/>
                  </a:moveTo>
                  <a:lnTo>
                    <a:pt x="12700" y="3563366"/>
                  </a:lnTo>
                  <a:lnTo>
                    <a:pt x="6350" y="3563366"/>
                  </a:lnTo>
                  <a:lnTo>
                    <a:pt x="12700" y="3563366"/>
                  </a:lnTo>
                  <a:cubicBezTo>
                    <a:pt x="12700" y="3647567"/>
                    <a:pt x="81026" y="3715766"/>
                    <a:pt x="165481" y="3715766"/>
                  </a:cubicBezTo>
                  <a:lnTo>
                    <a:pt x="10527157" y="3715766"/>
                  </a:lnTo>
                  <a:cubicBezTo>
                    <a:pt x="10611485" y="3715766"/>
                    <a:pt x="10679938" y="3647567"/>
                    <a:pt x="10679938" y="3563366"/>
                  </a:cubicBezTo>
                  <a:lnTo>
                    <a:pt x="10679938" y="165100"/>
                  </a:lnTo>
                  <a:cubicBezTo>
                    <a:pt x="10679938" y="80899"/>
                    <a:pt x="10611612" y="12700"/>
                    <a:pt x="10527157" y="12700"/>
                  </a:cubicBezTo>
                  <a:lnTo>
                    <a:pt x="165481" y="12700"/>
                  </a:lnTo>
                  <a:lnTo>
                    <a:pt x="165481" y="6350"/>
                  </a:lnTo>
                  <a:lnTo>
                    <a:pt x="165481" y="12700"/>
                  </a:lnTo>
                  <a:cubicBezTo>
                    <a:pt x="81026" y="12700"/>
                    <a:pt x="12700" y="80899"/>
                    <a:pt x="12700" y="165100"/>
                  </a:cubicBezTo>
                  <a:close/>
                </a:path>
              </a:pathLst>
            </a:custGeom>
            <a:solidFill>
              <a:srgbClr val="BDB8DF"/>
            </a:solidFill>
          </p:spPr>
        </p:sp>
      </p:grpSp>
      <p:grpSp>
        <p:nvGrpSpPr>
          <p:cNvPr id="10" name="Group 10"/>
          <p:cNvGrpSpPr/>
          <p:nvPr/>
        </p:nvGrpSpPr>
        <p:grpSpPr>
          <a:xfrm>
            <a:off x="1285280" y="3163491"/>
            <a:ext cx="850552" cy="850552"/>
            <a:chOff x="0" y="0"/>
            <a:chExt cx="1134070" cy="1134070"/>
          </a:xfrm>
        </p:grpSpPr>
        <p:sp>
          <p:nvSpPr>
            <p:cNvPr id="11" name="Freeform 11"/>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5E4CE6"/>
            </a:solidFill>
          </p:spPr>
        </p:sp>
      </p:grpSp>
      <p:grpSp>
        <p:nvGrpSpPr>
          <p:cNvPr id="12" name="Group 12"/>
          <p:cNvGrpSpPr>
            <a:grpSpLocks noChangeAspect="1"/>
          </p:cNvGrpSpPr>
          <p:nvPr/>
        </p:nvGrpSpPr>
        <p:grpSpPr>
          <a:xfrm>
            <a:off x="1519238" y="3349526"/>
            <a:ext cx="382637" cy="478334"/>
            <a:chOff x="0" y="0"/>
            <a:chExt cx="510183" cy="637778"/>
          </a:xfrm>
        </p:grpSpPr>
        <p:sp>
          <p:nvSpPr>
            <p:cNvPr id="13" name="Freeform 13" descr="preencoded.png"/>
            <p:cNvSpPr/>
            <p:nvPr/>
          </p:nvSpPr>
          <p:spPr>
            <a:xfrm>
              <a:off x="0" y="0"/>
              <a:ext cx="510159" cy="637794"/>
            </a:xfrm>
            <a:custGeom>
              <a:avLst/>
              <a:gdLst/>
              <a:ahLst/>
              <a:cxnLst/>
              <a:rect l="l" t="t" r="r" b="b"/>
              <a:pathLst>
                <a:path w="510159" h="637794">
                  <a:moveTo>
                    <a:pt x="0" y="0"/>
                  </a:moveTo>
                  <a:lnTo>
                    <a:pt x="510159" y="0"/>
                  </a:lnTo>
                  <a:lnTo>
                    <a:pt x="510159" y="637794"/>
                  </a:lnTo>
                  <a:lnTo>
                    <a:pt x="0" y="637794"/>
                  </a:lnTo>
                  <a:lnTo>
                    <a:pt x="0" y="0"/>
                  </a:lnTo>
                  <a:close/>
                </a:path>
              </a:pathLst>
            </a:custGeom>
            <a:blipFill>
              <a:blip r:embed="rId4"/>
              <a:stretch>
                <a:fillRect l="-3" r="-8" b="2"/>
              </a:stretch>
            </a:blipFill>
          </p:spPr>
        </p:sp>
      </p:grpSp>
      <p:sp>
        <p:nvSpPr>
          <p:cNvPr id="14" name="TextBox 14"/>
          <p:cNvSpPr txBox="1"/>
          <p:nvPr/>
        </p:nvSpPr>
        <p:spPr>
          <a:xfrm>
            <a:off x="1285280" y="4259461"/>
            <a:ext cx="3544044" cy="481012"/>
          </a:xfrm>
          <a:prstGeom prst="rect">
            <a:avLst/>
          </a:prstGeom>
        </p:spPr>
        <p:txBody>
          <a:bodyPr lIns="0" tIns="0" rIns="0" bIns="0" rtlCol="0" anchor="t">
            <a:spAutoFit/>
          </a:bodyPr>
          <a:lstStyle/>
          <a:p>
            <a:pPr algn="l">
              <a:lnSpc>
                <a:spcPts val="3437"/>
              </a:lnSpc>
            </a:pPr>
            <a:r>
              <a:rPr lang="en-US" sz="2750" b="1">
                <a:solidFill>
                  <a:srgbClr val="2A2742"/>
                </a:solidFill>
                <a:latin typeface="Arimo Bold"/>
                <a:ea typeface="Arimo Bold"/>
                <a:cs typeface="Arimo Bold"/>
                <a:sym typeface="Arimo Bold"/>
              </a:rPr>
              <a:t>Discussion Forum</a:t>
            </a:r>
          </a:p>
        </p:txBody>
      </p:sp>
      <p:sp>
        <p:nvSpPr>
          <p:cNvPr id="15" name="TextBox 15"/>
          <p:cNvSpPr txBox="1"/>
          <p:nvPr/>
        </p:nvSpPr>
        <p:spPr>
          <a:xfrm>
            <a:off x="1285280" y="4805809"/>
            <a:ext cx="5686722" cy="558404"/>
          </a:xfrm>
          <a:prstGeom prst="rect">
            <a:avLst/>
          </a:prstGeom>
        </p:spPr>
        <p:txBody>
          <a:bodyPr lIns="0" tIns="0" rIns="0" bIns="0" rtlCol="0" anchor="t">
            <a:spAutoFit/>
          </a:bodyPr>
          <a:lstStyle/>
          <a:p>
            <a:pPr algn="l">
              <a:lnSpc>
                <a:spcPts val="3562"/>
              </a:lnSpc>
            </a:pPr>
            <a:r>
              <a:rPr lang="en-US" sz="2187">
                <a:solidFill>
                  <a:srgbClr val="2A2742"/>
                </a:solidFill>
                <a:latin typeface="Arimo"/>
                <a:ea typeface="Arimo"/>
                <a:cs typeface="Arimo"/>
                <a:sym typeface="Arimo"/>
              </a:rPr>
              <a:t>Add a place for students and teachers to talk.</a:t>
            </a:r>
          </a:p>
        </p:txBody>
      </p:sp>
      <p:grpSp>
        <p:nvGrpSpPr>
          <p:cNvPr id="16" name="Group 16"/>
          <p:cNvGrpSpPr/>
          <p:nvPr/>
        </p:nvGrpSpPr>
        <p:grpSpPr>
          <a:xfrm>
            <a:off x="9280922" y="2865685"/>
            <a:ext cx="8019604" cy="2796331"/>
            <a:chOff x="0" y="0"/>
            <a:chExt cx="10692805" cy="3728442"/>
          </a:xfrm>
        </p:grpSpPr>
        <p:sp>
          <p:nvSpPr>
            <p:cNvPr id="17" name="Freeform 17"/>
            <p:cNvSpPr/>
            <p:nvPr/>
          </p:nvSpPr>
          <p:spPr>
            <a:xfrm>
              <a:off x="6350" y="6350"/>
              <a:ext cx="10680065" cy="3715766"/>
            </a:xfrm>
            <a:custGeom>
              <a:avLst/>
              <a:gdLst/>
              <a:ahLst/>
              <a:cxnLst/>
              <a:rect l="l" t="t" r="r" b="b"/>
              <a:pathLst>
                <a:path w="10680065" h="3715766">
                  <a:moveTo>
                    <a:pt x="0" y="158750"/>
                  </a:moveTo>
                  <a:cubicBezTo>
                    <a:pt x="0" y="71120"/>
                    <a:pt x="71247" y="0"/>
                    <a:pt x="159131" y="0"/>
                  </a:cubicBezTo>
                  <a:lnTo>
                    <a:pt x="10520934" y="0"/>
                  </a:lnTo>
                  <a:cubicBezTo>
                    <a:pt x="10608818" y="0"/>
                    <a:pt x="10680065" y="71120"/>
                    <a:pt x="10680065" y="158750"/>
                  </a:cubicBezTo>
                  <a:lnTo>
                    <a:pt x="10680065" y="3557016"/>
                  </a:lnTo>
                  <a:cubicBezTo>
                    <a:pt x="10680065" y="3644646"/>
                    <a:pt x="10608818" y="3715766"/>
                    <a:pt x="10520934" y="3715766"/>
                  </a:cubicBezTo>
                  <a:lnTo>
                    <a:pt x="159131" y="3715766"/>
                  </a:lnTo>
                  <a:cubicBezTo>
                    <a:pt x="71247" y="3715766"/>
                    <a:pt x="0" y="3644646"/>
                    <a:pt x="0" y="3557016"/>
                  </a:cubicBezTo>
                  <a:close/>
                </a:path>
              </a:pathLst>
            </a:custGeom>
            <a:solidFill>
              <a:srgbClr val="E9E6FA"/>
            </a:solidFill>
          </p:spPr>
        </p:sp>
        <p:sp>
          <p:nvSpPr>
            <p:cNvPr id="18" name="Freeform 18"/>
            <p:cNvSpPr/>
            <p:nvPr/>
          </p:nvSpPr>
          <p:spPr>
            <a:xfrm>
              <a:off x="0" y="0"/>
              <a:ext cx="10692765" cy="3728466"/>
            </a:xfrm>
            <a:custGeom>
              <a:avLst/>
              <a:gdLst/>
              <a:ahLst/>
              <a:cxnLst/>
              <a:rect l="l" t="t" r="r" b="b"/>
              <a:pathLst>
                <a:path w="10692765" h="3728466">
                  <a:moveTo>
                    <a:pt x="0" y="165100"/>
                  </a:moveTo>
                  <a:cubicBezTo>
                    <a:pt x="0" y="73914"/>
                    <a:pt x="74041" y="0"/>
                    <a:pt x="165481" y="0"/>
                  </a:cubicBezTo>
                  <a:lnTo>
                    <a:pt x="10527284" y="0"/>
                  </a:lnTo>
                  <a:lnTo>
                    <a:pt x="10527284" y="6350"/>
                  </a:lnTo>
                  <a:lnTo>
                    <a:pt x="10527284" y="0"/>
                  </a:lnTo>
                  <a:cubicBezTo>
                    <a:pt x="10618724" y="0"/>
                    <a:pt x="10692765" y="73914"/>
                    <a:pt x="10692765" y="165100"/>
                  </a:cubicBezTo>
                  <a:lnTo>
                    <a:pt x="10686415" y="165100"/>
                  </a:lnTo>
                  <a:lnTo>
                    <a:pt x="10692765" y="165100"/>
                  </a:lnTo>
                  <a:lnTo>
                    <a:pt x="10692765" y="3563366"/>
                  </a:lnTo>
                  <a:lnTo>
                    <a:pt x="10686415" y="3563366"/>
                  </a:lnTo>
                  <a:lnTo>
                    <a:pt x="10692765" y="3563366"/>
                  </a:lnTo>
                  <a:cubicBezTo>
                    <a:pt x="10692765" y="3654552"/>
                    <a:pt x="10618724" y="3728466"/>
                    <a:pt x="10527284" y="3728466"/>
                  </a:cubicBezTo>
                  <a:lnTo>
                    <a:pt x="10527284" y="3722116"/>
                  </a:lnTo>
                  <a:lnTo>
                    <a:pt x="10527284" y="3728466"/>
                  </a:lnTo>
                  <a:lnTo>
                    <a:pt x="165481" y="3728466"/>
                  </a:lnTo>
                  <a:lnTo>
                    <a:pt x="165481" y="3722116"/>
                  </a:lnTo>
                  <a:lnTo>
                    <a:pt x="165481" y="3728466"/>
                  </a:lnTo>
                  <a:cubicBezTo>
                    <a:pt x="74041" y="3728466"/>
                    <a:pt x="0" y="3654552"/>
                    <a:pt x="0" y="3563366"/>
                  </a:cubicBezTo>
                  <a:lnTo>
                    <a:pt x="0" y="165100"/>
                  </a:lnTo>
                  <a:lnTo>
                    <a:pt x="6350" y="165100"/>
                  </a:lnTo>
                  <a:lnTo>
                    <a:pt x="0" y="165100"/>
                  </a:lnTo>
                  <a:moveTo>
                    <a:pt x="12700" y="165100"/>
                  </a:moveTo>
                  <a:lnTo>
                    <a:pt x="12700" y="3563366"/>
                  </a:lnTo>
                  <a:lnTo>
                    <a:pt x="6350" y="3563366"/>
                  </a:lnTo>
                  <a:lnTo>
                    <a:pt x="12700" y="3563366"/>
                  </a:lnTo>
                  <a:cubicBezTo>
                    <a:pt x="12700" y="3647567"/>
                    <a:pt x="81026" y="3715766"/>
                    <a:pt x="165481" y="3715766"/>
                  </a:cubicBezTo>
                  <a:lnTo>
                    <a:pt x="10527284" y="3715766"/>
                  </a:lnTo>
                  <a:cubicBezTo>
                    <a:pt x="10611612" y="3715766"/>
                    <a:pt x="10680065" y="3647567"/>
                    <a:pt x="10680065" y="3563366"/>
                  </a:cubicBezTo>
                  <a:lnTo>
                    <a:pt x="10680065" y="165100"/>
                  </a:lnTo>
                  <a:cubicBezTo>
                    <a:pt x="10680065" y="80899"/>
                    <a:pt x="10611739" y="12700"/>
                    <a:pt x="10527284" y="12700"/>
                  </a:cubicBezTo>
                  <a:lnTo>
                    <a:pt x="165481" y="12700"/>
                  </a:lnTo>
                  <a:lnTo>
                    <a:pt x="165481" y="6350"/>
                  </a:lnTo>
                  <a:lnTo>
                    <a:pt x="165481" y="12700"/>
                  </a:lnTo>
                  <a:cubicBezTo>
                    <a:pt x="81026" y="12700"/>
                    <a:pt x="12700" y="80899"/>
                    <a:pt x="12700" y="165100"/>
                  </a:cubicBezTo>
                  <a:close/>
                </a:path>
              </a:pathLst>
            </a:custGeom>
            <a:solidFill>
              <a:srgbClr val="BDB8DF"/>
            </a:solidFill>
          </p:spPr>
        </p:sp>
      </p:grpSp>
      <p:grpSp>
        <p:nvGrpSpPr>
          <p:cNvPr id="19" name="Group 19"/>
          <p:cNvGrpSpPr/>
          <p:nvPr/>
        </p:nvGrpSpPr>
        <p:grpSpPr>
          <a:xfrm>
            <a:off x="9578728" y="3163491"/>
            <a:ext cx="850553" cy="850552"/>
            <a:chOff x="0" y="0"/>
            <a:chExt cx="1134070" cy="1134070"/>
          </a:xfrm>
        </p:grpSpPr>
        <p:sp>
          <p:nvSpPr>
            <p:cNvPr id="20" name="Freeform 20"/>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5E4CE6"/>
            </a:solidFill>
          </p:spPr>
        </p:sp>
      </p:grpSp>
      <p:grpSp>
        <p:nvGrpSpPr>
          <p:cNvPr id="21" name="Group 21"/>
          <p:cNvGrpSpPr>
            <a:grpSpLocks noChangeAspect="1"/>
          </p:cNvGrpSpPr>
          <p:nvPr/>
        </p:nvGrpSpPr>
        <p:grpSpPr>
          <a:xfrm>
            <a:off x="9812685" y="3349526"/>
            <a:ext cx="382638" cy="478334"/>
            <a:chOff x="0" y="0"/>
            <a:chExt cx="510183" cy="637778"/>
          </a:xfrm>
        </p:grpSpPr>
        <p:sp>
          <p:nvSpPr>
            <p:cNvPr id="22" name="Freeform 22" descr="preencoded.png"/>
            <p:cNvSpPr/>
            <p:nvPr/>
          </p:nvSpPr>
          <p:spPr>
            <a:xfrm>
              <a:off x="0" y="0"/>
              <a:ext cx="510159" cy="637794"/>
            </a:xfrm>
            <a:custGeom>
              <a:avLst/>
              <a:gdLst/>
              <a:ahLst/>
              <a:cxnLst/>
              <a:rect l="l" t="t" r="r" b="b"/>
              <a:pathLst>
                <a:path w="510159" h="637794">
                  <a:moveTo>
                    <a:pt x="0" y="0"/>
                  </a:moveTo>
                  <a:lnTo>
                    <a:pt x="510159" y="0"/>
                  </a:lnTo>
                  <a:lnTo>
                    <a:pt x="510159" y="637794"/>
                  </a:lnTo>
                  <a:lnTo>
                    <a:pt x="0" y="637794"/>
                  </a:lnTo>
                  <a:lnTo>
                    <a:pt x="0" y="0"/>
                  </a:lnTo>
                  <a:close/>
                </a:path>
              </a:pathLst>
            </a:custGeom>
            <a:blipFill>
              <a:blip r:embed="rId5"/>
              <a:stretch>
                <a:fillRect l="-3" r="-8" b="2"/>
              </a:stretch>
            </a:blipFill>
          </p:spPr>
        </p:sp>
      </p:grpSp>
      <p:sp>
        <p:nvSpPr>
          <p:cNvPr id="23" name="TextBox 23"/>
          <p:cNvSpPr txBox="1"/>
          <p:nvPr/>
        </p:nvSpPr>
        <p:spPr>
          <a:xfrm>
            <a:off x="9578728" y="4259461"/>
            <a:ext cx="3544044" cy="481012"/>
          </a:xfrm>
          <a:prstGeom prst="rect">
            <a:avLst/>
          </a:prstGeom>
        </p:spPr>
        <p:txBody>
          <a:bodyPr lIns="0" tIns="0" rIns="0" bIns="0" rtlCol="0" anchor="t">
            <a:spAutoFit/>
          </a:bodyPr>
          <a:lstStyle/>
          <a:p>
            <a:pPr algn="l">
              <a:lnSpc>
                <a:spcPts val="3437"/>
              </a:lnSpc>
            </a:pPr>
            <a:r>
              <a:rPr lang="en-US" sz="2750" b="1">
                <a:solidFill>
                  <a:srgbClr val="2A2742"/>
                </a:solidFill>
                <a:latin typeface="Arimo Bold"/>
                <a:ea typeface="Arimo Bold"/>
                <a:cs typeface="Arimo Bold"/>
                <a:sym typeface="Arimo Bold"/>
              </a:rPr>
              <a:t>Real-time Chat</a:t>
            </a:r>
          </a:p>
        </p:txBody>
      </p:sp>
      <p:sp>
        <p:nvSpPr>
          <p:cNvPr id="24" name="TextBox 24"/>
          <p:cNvSpPr txBox="1"/>
          <p:nvPr/>
        </p:nvSpPr>
        <p:spPr>
          <a:xfrm>
            <a:off x="9578728" y="4805809"/>
            <a:ext cx="4615457" cy="558404"/>
          </a:xfrm>
          <a:prstGeom prst="rect">
            <a:avLst/>
          </a:prstGeom>
        </p:spPr>
        <p:txBody>
          <a:bodyPr lIns="0" tIns="0" rIns="0" bIns="0" rtlCol="0" anchor="t">
            <a:spAutoFit/>
          </a:bodyPr>
          <a:lstStyle/>
          <a:p>
            <a:pPr algn="l">
              <a:lnSpc>
                <a:spcPts val="3562"/>
              </a:lnSpc>
            </a:pPr>
            <a:r>
              <a:rPr lang="en-US" sz="2187">
                <a:solidFill>
                  <a:srgbClr val="2A2742"/>
                </a:solidFill>
                <a:latin typeface="Arimo"/>
                <a:ea typeface="Arimo"/>
                <a:cs typeface="Arimo"/>
                <a:sym typeface="Arimo"/>
              </a:rPr>
              <a:t>Enable quick chat for solving doubts.</a:t>
            </a:r>
          </a:p>
        </p:txBody>
      </p:sp>
      <p:grpSp>
        <p:nvGrpSpPr>
          <p:cNvPr id="25" name="Group 25"/>
          <p:cNvGrpSpPr/>
          <p:nvPr/>
        </p:nvGrpSpPr>
        <p:grpSpPr>
          <a:xfrm>
            <a:off x="987475" y="5936010"/>
            <a:ext cx="8019455" cy="2796331"/>
            <a:chOff x="0" y="0"/>
            <a:chExt cx="10692607" cy="3728442"/>
          </a:xfrm>
        </p:grpSpPr>
        <p:sp>
          <p:nvSpPr>
            <p:cNvPr id="26" name="Freeform 26"/>
            <p:cNvSpPr/>
            <p:nvPr/>
          </p:nvSpPr>
          <p:spPr>
            <a:xfrm>
              <a:off x="6350" y="6350"/>
              <a:ext cx="10679938" cy="3715766"/>
            </a:xfrm>
            <a:custGeom>
              <a:avLst/>
              <a:gdLst/>
              <a:ahLst/>
              <a:cxnLst/>
              <a:rect l="l" t="t" r="r" b="b"/>
              <a:pathLst>
                <a:path w="10679938" h="3715766">
                  <a:moveTo>
                    <a:pt x="0" y="158750"/>
                  </a:moveTo>
                  <a:cubicBezTo>
                    <a:pt x="0" y="71120"/>
                    <a:pt x="71247" y="0"/>
                    <a:pt x="159131" y="0"/>
                  </a:cubicBezTo>
                  <a:lnTo>
                    <a:pt x="10520807" y="0"/>
                  </a:lnTo>
                  <a:cubicBezTo>
                    <a:pt x="10608690" y="0"/>
                    <a:pt x="10679938" y="71120"/>
                    <a:pt x="10679938" y="158750"/>
                  </a:cubicBezTo>
                  <a:lnTo>
                    <a:pt x="10679938" y="3557016"/>
                  </a:lnTo>
                  <a:cubicBezTo>
                    <a:pt x="10679938" y="3644646"/>
                    <a:pt x="10608690" y="3715766"/>
                    <a:pt x="10520807" y="3715766"/>
                  </a:cubicBezTo>
                  <a:lnTo>
                    <a:pt x="159131" y="3715766"/>
                  </a:lnTo>
                  <a:cubicBezTo>
                    <a:pt x="71247" y="3715766"/>
                    <a:pt x="0" y="3644646"/>
                    <a:pt x="0" y="3557016"/>
                  </a:cubicBezTo>
                  <a:close/>
                </a:path>
              </a:pathLst>
            </a:custGeom>
            <a:solidFill>
              <a:srgbClr val="E9E6FA"/>
            </a:solidFill>
          </p:spPr>
        </p:sp>
        <p:sp>
          <p:nvSpPr>
            <p:cNvPr id="27" name="Freeform 27"/>
            <p:cNvSpPr/>
            <p:nvPr/>
          </p:nvSpPr>
          <p:spPr>
            <a:xfrm>
              <a:off x="0" y="0"/>
              <a:ext cx="10692638" cy="3728466"/>
            </a:xfrm>
            <a:custGeom>
              <a:avLst/>
              <a:gdLst/>
              <a:ahLst/>
              <a:cxnLst/>
              <a:rect l="l" t="t" r="r" b="b"/>
              <a:pathLst>
                <a:path w="10692638" h="3728466">
                  <a:moveTo>
                    <a:pt x="0" y="165100"/>
                  </a:moveTo>
                  <a:cubicBezTo>
                    <a:pt x="0" y="73914"/>
                    <a:pt x="74041" y="0"/>
                    <a:pt x="165481" y="0"/>
                  </a:cubicBezTo>
                  <a:lnTo>
                    <a:pt x="10527157" y="0"/>
                  </a:lnTo>
                  <a:lnTo>
                    <a:pt x="10527157" y="6350"/>
                  </a:lnTo>
                  <a:lnTo>
                    <a:pt x="10527157" y="0"/>
                  </a:lnTo>
                  <a:cubicBezTo>
                    <a:pt x="10618597" y="0"/>
                    <a:pt x="10692638" y="73914"/>
                    <a:pt x="10692638" y="165100"/>
                  </a:cubicBezTo>
                  <a:lnTo>
                    <a:pt x="10686288" y="165100"/>
                  </a:lnTo>
                  <a:lnTo>
                    <a:pt x="10692638" y="165100"/>
                  </a:lnTo>
                  <a:lnTo>
                    <a:pt x="10692638" y="3563366"/>
                  </a:lnTo>
                  <a:lnTo>
                    <a:pt x="10686288" y="3563366"/>
                  </a:lnTo>
                  <a:lnTo>
                    <a:pt x="10692638" y="3563366"/>
                  </a:lnTo>
                  <a:cubicBezTo>
                    <a:pt x="10692638" y="3654552"/>
                    <a:pt x="10618597" y="3728466"/>
                    <a:pt x="10527157" y="3728466"/>
                  </a:cubicBezTo>
                  <a:lnTo>
                    <a:pt x="10527157" y="3722116"/>
                  </a:lnTo>
                  <a:lnTo>
                    <a:pt x="10527157" y="3728466"/>
                  </a:lnTo>
                  <a:lnTo>
                    <a:pt x="165481" y="3728466"/>
                  </a:lnTo>
                  <a:lnTo>
                    <a:pt x="165481" y="3722116"/>
                  </a:lnTo>
                  <a:lnTo>
                    <a:pt x="165481" y="3728466"/>
                  </a:lnTo>
                  <a:cubicBezTo>
                    <a:pt x="74041" y="3728466"/>
                    <a:pt x="0" y="3654552"/>
                    <a:pt x="0" y="3563366"/>
                  </a:cubicBezTo>
                  <a:lnTo>
                    <a:pt x="0" y="165100"/>
                  </a:lnTo>
                  <a:lnTo>
                    <a:pt x="6350" y="165100"/>
                  </a:lnTo>
                  <a:lnTo>
                    <a:pt x="0" y="165100"/>
                  </a:lnTo>
                  <a:moveTo>
                    <a:pt x="12700" y="165100"/>
                  </a:moveTo>
                  <a:lnTo>
                    <a:pt x="12700" y="3563366"/>
                  </a:lnTo>
                  <a:lnTo>
                    <a:pt x="6350" y="3563366"/>
                  </a:lnTo>
                  <a:lnTo>
                    <a:pt x="12700" y="3563366"/>
                  </a:lnTo>
                  <a:cubicBezTo>
                    <a:pt x="12700" y="3647567"/>
                    <a:pt x="81026" y="3715766"/>
                    <a:pt x="165481" y="3715766"/>
                  </a:cubicBezTo>
                  <a:lnTo>
                    <a:pt x="10527157" y="3715766"/>
                  </a:lnTo>
                  <a:cubicBezTo>
                    <a:pt x="10611485" y="3715766"/>
                    <a:pt x="10679938" y="3647567"/>
                    <a:pt x="10679938" y="3563366"/>
                  </a:cubicBezTo>
                  <a:lnTo>
                    <a:pt x="10679938" y="165100"/>
                  </a:lnTo>
                  <a:cubicBezTo>
                    <a:pt x="10679938" y="80899"/>
                    <a:pt x="10611612" y="12700"/>
                    <a:pt x="10527157" y="12700"/>
                  </a:cubicBezTo>
                  <a:lnTo>
                    <a:pt x="165481" y="12700"/>
                  </a:lnTo>
                  <a:lnTo>
                    <a:pt x="165481" y="6350"/>
                  </a:lnTo>
                  <a:lnTo>
                    <a:pt x="165481" y="12700"/>
                  </a:lnTo>
                  <a:cubicBezTo>
                    <a:pt x="81026" y="12700"/>
                    <a:pt x="12700" y="80899"/>
                    <a:pt x="12700" y="165100"/>
                  </a:cubicBezTo>
                  <a:close/>
                </a:path>
              </a:pathLst>
            </a:custGeom>
            <a:solidFill>
              <a:srgbClr val="BDB8DF"/>
            </a:solidFill>
          </p:spPr>
        </p:sp>
      </p:grpSp>
      <p:grpSp>
        <p:nvGrpSpPr>
          <p:cNvPr id="28" name="Group 28"/>
          <p:cNvGrpSpPr/>
          <p:nvPr/>
        </p:nvGrpSpPr>
        <p:grpSpPr>
          <a:xfrm>
            <a:off x="1285280" y="6233815"/>
            <a:ext cx="850552" cy="850552"/>
            <a:chOff x="0" y="0"/>
            <a:chExt cx="1134070" cy="1134070"/>
          </a:xfrm>
        </p:grpSpPr>
        <p:sp>
          <p:nvSpPr>
            <p:cNvPr id="29" name="Freeform 29"/>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5E4CE6"/>
            </a:solidFill>
          </p:spPr>
        </p:sp>
      </p:grpSp>
      <p:grpSp>
        <p:nvGrpSpPr>
          <p:cNvPr id="30" name="Group 30"/>
          <p:cNvGrpSpPr>
            <a:grpSpLocks noChangeAspect="1"/>
          </p:cNvGrpSpPr>
          <p:nvPr/>
        </p:nvGrpSpPr>
        <p:grpSpPr>
          <a:xfrm>
            <a:off x="1519238" y="6419850"/>
            <a:ext cx="382637" cy="478334"/>
            <a:chOff x="0" y="0"/>
            <a:chExt cx="510183" cy="637778"/>
          </a:xfrm>
        </p:grpSpPr>
        <p:sp>
          <p:nvSpPr>
            <p:cNvPr id="31" name="Freeform 31" descr="preencoded.png"/>
            <p:cNvSpPr/>
            <p:nvPr/>
          </p:nvSpPr>
          <p:spPr>
            <a:xfrm>
              <a:off x="0" y="0"/>
              <a:ext cx="510159" cy="637794"/>
            </a:xfrm>
            <a:custGeom>
              <a:avLst/>
              <a:gdLst/>
              <a:ahLst/>
              <a:cxnLst/>
              <a:rect l="l" t="t" r="r" b="b"/>
              <a:pathLst>
                <a:path w="510159" h="637794">
                  <a:moveTo>
                    <a:pt x="0" y="0"/>
                  </a:moveTo>
                  <a:lnTo>
                    <a:pt x="510159" y="0"/>
                  </a:lnTo>
                  <a:lnTo>
                    <a:pt x="510159" y="637794"/>
                  </a:lnTo>
                  <a:lnTo>
                    <a:pt x="0" y="637794"/>
                  </a:lnTo>
                  <a:lnTo>
                    <a:pt x="0" y="0"/>
                  </a:lnTo>
                  <a:close/>
                </a:path>
              </a:pathLst>
            </a:custGeom>
            <a:blipFill>
              <a:blip r:embed="rId6"/>
              <a:stretch>
                <a:fillRect l="-3" r="-8" b="2"/>
              </a:stretch>
            </a:blipFill>
          </p:spPr>
        </p:sp>
      </p:grpSp>
      <p:sp>
        <p:nvSpPr>
          <p:cNvPr id="32" name="TextBox 32"/>
          <p:cNvSpPr txBox="1"/>
          <p:nvPr/>
        </p:nvSpPr>
        <p:spPr>
          <a:xfrm>
            <a:off x="1285280" y="7329785"/>
            <a:ext cx="7172920" cy="436017"/>
          </a:xfrm>
          <a:prstGeom prst="rect">
            <a:avLst/>
          </a:prstGeom>
        </p:spPr>
        <p:txBody>
          <a:bodyPr wrap="square" lIns="0" tIns="0" rIns="0" bIns="0" rtlCol="0" anchor="t">
            <a:spAutoFit/>
          </a:bodyPr>
          <a:lstStyle/>
          <a:p>
            <a:pPr algn="l">
              <a:lnSpc>
                <a:spcPts val="3437"/>
              </a:lnSpc>
            </a:pPr>
            <a:r>
              <a:rPr lang="en-US" sz="2750" b="1" dirty="0">
                <a:solidFill>
                  <a:srgbClr val="2A2742"/>
                </a:solidFill>
                <a:latin typeface="Arimo Bold"/>
                <a:ea typeface="Arimo Bold"/>
                <a:cs typeface="Arimo Bold"/>
                <a:sym typeface="Arimo Bold"/>
              </a:rPr>
              <a:t>AI Recommendations</a:t>
            </a:r>
          </a:p>
        </p:txBody>
      </p:sp>
      <p:sp>
        <p:nvSpPr>
          <p:cNvPr id="33" name="TextBox 33"/>
          <p:cNvSpPr txBox="1"/>
          <p:nvPr/>
        </p:nvSpPr>
        <p:spPr>
          <a:xfrm>
            <a:off x="1285280" y="7876134"/>
            <a:ext cx="4977556" cy="558404"/>
          </a:xfrm>
          <a:prstGeom prst="rect">
            <a:avLst/>
          </a:prstGeom>
        </p:spPr>
        <p:txBody>
          <a:bodyPr lIns="0" tIns="0" rIns="0" bIns="0" rtlCol="0" anchor="t">
            <a:spAutoFit/>
          </a:bodyPr>
          <a:lstStyle/>
          <a:p>
            <a:pPr algn="l">
              <a:lnSpc>
                <a:spcPts val="3562"/>
              </a:lnSpc>
            </a:pPr>
            <a:r>
              <a:rPr lang="en-US" sz="2187" dirty="0">
                <a:solidFill>
                  <a:srgbClr val="2A2742"/>
                </a:solidFill>
                <a:latin typeface="Arimo"/>
                <a:ea typeface="Arimo"/>
                <a:cs typeface="Arimo"/>
                <a:sym typeface="Arimo"/>
              </a:rPr>
              <a:t>Implement AI to suggest relevant notes.</a:t>
            </a:r>
          </a:p>
        </p:txBody>
      </p:sp>
      <p:grpSp>
        <p:nvGrpSpPr>
          <p:cNvPr id="34" name="Group 34"/>
          <p:cNvGrpSpPr/>
          <p:nvPr/>
        </p:nvGrpSpPr>
        <p:grpSpPr>
          <a:xfrm>
            <a:off x="9280922" y="5936010"/>
            <a:ext cx="8019604" cy="2796331"/>
            <a:chOff x="0" y="0"/>
            <a:chExt cx="10692805" cy="3728442"/>
          </a:xfrm>
        </p:grpSpPr>
        <p:sp>
          <p:nvSpPr>
            <p:cNvPr id="35" name="Freeform 35"/>
            <p:cNvSpPr/>
            <p:nvPr/>
          </p:nvSpPr>
          <p:spPr>
            <a:xfrm>
              <a:off x="6350" y="6350"/>
              <a:ext cx="10680065" cy="3715766"/>
            </a:xfrm>
            <a:custGeom>
              <a:avLst/>
              <a:gdLst/>
              <a:ahLst/>
              <a:cxnLst/>
              <a:rect l="l" t="t" r="r" b="b"/>
              <a:pathLst>
                <a:path w="10680065" h="3715766">
                  <a:moveTo>
                    <a:pt x="0" y="158750"/>
                  </a:moveTo>
                  <a:cubicBezTo>
                    <a:pt x="0" y="71120"/>
                    <a:pt x="71247" y="0"/>
                    <a:pt x="159131" y="0"/>
                  </a:cubicBezTo>
                  <a:lnTo>
                    <a:pt x="10520934" y="0"/>
                  </a:lnTo>
                  <a:cubicBezTo>
                    <a:pt x="10608818" y="0"/>
                    <a:pt x="10680065" y="71120"/>
                    <a:pt x="10680065" y="158750"/>
                  </a:cubicBezTo>
                  <a:lnTo>
                    <a:pt x="10680065" y="3557016"/>
                  </a:lnTo>
                  <a:cubicBezTo>
                    <a:pt x="10680065" y="3644646"/>
                    <a:pt x="10608818" y="3715766"/>
                    <a:pt x="10520934" y="3715766"/>
                  </a:cubicBezTo>
                  <a:lnTo>
                    <a:pt x="159131" y="3715766"/>
                  </a:lnTo>
                  <a:cubicBezTo>
                    <a:pt x="71247" y="3715766"/>
                    <a:pt x="0" y="3644646"/>
                    <a:pt x="0" y="3557016"/>
                  </a:cubicBezTo>
                  <a:close/>
                </a:path>
              </a:pathLst>
            </a:custGeom>
            <a:solidFill>
              <a:srgbClr val="E9E6FA"/>
            </a:solidFill>
          </p:spPr>
        </p:sp>
        <p:sp>
          <p:nvSpPr>
            <p:cNvPr id="36" name="Freeform 36"/>
            <p:cNvSpPr/>
            <p:nvPr/>
          </p:nvSpPr>
          <p:spPr>
            <a:xfrm>
              <a:off x="0" y="0"/>
              <a:ext cx="10692765" cy="3728466"/>
            </a:xfrm>
            <a:custGeom>
              <a:avLst/>
              <a:gdLst/>
              <a:ahLst/>
              <a:cxnLst/>
              <a:rect l="l" t="t" r="r" b="b"/>
              <a:pathLst>
                <a:path w="10692765" h="3728466">
                  <a:moveTo>
                    <a:pt x="0" y="165100"/>
                  </a:moveTo>
                  <a:cubicBezTo>
                    <a:pt x="0" y="73914"/>
                    <a:pt x="74041" y="0"/>
                    <a:pt x="165481" y="0"/>
                  </a:cubicBezTo>
                  <a:lnTo>
                    <a:pt x="10527284" y="0"/>
                  </a:lnTo>
                  <a:lnTo>
                    <a:pt x="10527284" y="6350"/>
                  </a:lnTo>
                  <a:lnTo>
                    <a:pt x="10527284" y="0"/>
                  </a:lnTo>
                  <a:cubicBezTo>
                    <a:pt x="10618724" y="0"/>
                    <a:pt x="10692765" y="73914"/>
                    <a:pt x="10692765" y="165100"/>
                  </a:cubicBezTo>
                  <a:lnTo>
                    <a:pt x="10686415" y="165100"/>
                  </a:lnTo>
                  <a:lnTo>
                    <a:pt x="10692765" y="165100"/>
                  </a:lnTo>
                  <a:lnTo>
                    <a:pt x="10692765" y="3563366"/>
                  </a:lnTo>
                  <a:lnTo>
                    <a:pt x="10686415" y="3563366"/>
                  </a:lnTo>
                  <a:lnTo>
                    <a:pt x="10692765" y="3563366"/>
                  </a:lnTo>
                  <a:cubicBezTo>
                    <a:pt x="10692765" y="3654552"/>
                    <a:pt x="10618724" y="3728466"/>
                    <a:pt x="10527284" y="3728466"/>
                  </a:cubicBezTo>
                  <a:lnTo>
                    <a:pt x="10527284" y="3722116"/>
                  </a:lnTo>
                  <a:lnTo>
                    <a:pt x="10527284" y="3728466"/>
                  </a:lnTo>
                  <a:lnTo>
                    <a:pt x="165481" y="3728466"/>
                  </a:lnTo>
                  <a:lnTo>
                    <a:pt x="165481" y="3722116"/>
                  </a:lnTo>
                  <a:lnTo>
                    <a:pt x="165481" y="3728466"/>
                  </a:lnTo>
                  <a:cubicBezTo>
                    <a:pt x="74041" y="3728466"/>
                    <a:pt x="0" y="3654552"/>
                    <a:pt x="0" y="3563366"/>
                  </a:cubicBezTo>
                  <a:lnTo>
                    <a:pt x="0" y="165100"/>
                  </a:lnTo>
                  <a:lnTo>
                    <a:pt x="6350" y="165100"/>
                  </a:lnTo>
                  <a:lnTo>
                    <a:pt x="0" y="165100"/>
                  </a:lnTo>
                  <a:moveTo>
                    <a:pt x="12700" y="165100"/>
                  </a:moveTo>
                  <a:lnTo>
                    <a:pt x="12700" y="3563366"/>
                  </a:lnTo>
                  <a:lnTo>
                    <a:pt x="6350" y="3563366"/>
                  </a:lnTo>
                  <a:lnTo>
                    <a:pt x="12700" y="3563366"/>
                  </a:lnTo>
                  <a:cubicBezTo>
                    <a:pt x="12700" y="3647567"/>
                    <a:pt x="81026" y="3715766"/>
                    <a:pt x="165481" y="3715766"/>
                  </a:cubicBezTo>
                  <a:lnTo>
                    <a:pt x="10527284" y="3715766"/>
                  </a:lnTo>
                  <a:cubicBezTo>
                    <a:pt x="10611612" y="3715766"/>
                    <a:pt x="10680065" y="3647567"/>
                    <a:pt x="10680065" y="3563366"/>
                  </a:cubicBezTo>
                  <a:lnTo>
                    <a:pt x="10680065" y="165100"/>
                  </a:lnTo>
                  <a:cubicBezTo>
                    <a:pt x="10680065" y="80899"/>
                    <a:pt x="10611739" y="12700"/>
                    <a:pt x="10527284" y="12700"/>
                  </a:cubicBezTo>
                  <a:lnTo>
                    <a:pt x="165481" y="12700"/>
                  </a:lnTo>
                  <a:lnTo>
                    <a:pt x="165481" y="6350"/>
                  </a:lnTo>
                  <a:lnTo>
                    <a:pt x="165481" y="12700"/>
                  </a:lnTo>
                  <a:cubicBezTo>
                    <a:pt x="81026" y="12700"/>
                    <a:pt x="12700" y="80899"/>
                    <a:pt x="12700" y="165100"/>
                  </a:cubicBezTo>
                  <a:close/>
                </a:path>
              </a:pathLst>
            </a:custGeom>
            <a:solidFill>
              <a:srgbClr val="BDB8DF"/>
            </a:solidFill>
          </p:spPr>
        </p:sp>
      </p:grpSp>
      <p:grpSp>
        <p:nvGrpSpPr>
          <p:cNvPr id="37" name="Group 37"/>
          <p:cNvGrpSpPr/>
          <p:nvPr/>
        </p:nvGrpSpPr>
        <p:grpSpPr>
          <a:xfrm>
            <a:off x="9578728" y="6233815"/>
            <a:ext cx="850553" cy="850552"/>
            <a:chOff x="0" y="0"/>
            <a:chExt cx="1134070" cy="1134070"/>
          </a:xfrm>
        </p:grpSpPr>
        <p:sp>
          <p:nvSpPr>
            <p:cNvPr id="38" name="Freeform 38"/>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5E4CE6"/>
            </a:solidFill>
          </p:spPr>
        </p:sp>
      </p:grpSp>
      <p:grpSp>
        <p:nvGrpSpPr>
          <p:cNvPr id="39" name="Group 39"/>
          <p:cNvGrpSpPr>
            <a:grpSpLocks noChangeAspect="1"/>
          </p:cNvGrpSpPr>
          <p:nvPr/>
        </p:nvGrpSpPr>
        <p:grpSpPr>
          <a:xfrm>
            <a:off x="9812685" y="6419850"/>
            <a:ext cx="382638" cy="478334"/>
            <a:chOff x="0" y="0"/>
            <a:chExt cx="510183" cy="637778"/>
          </a:xfrm>
        </p:grpSpPr>
        <p:sp>
          <p:nvSpPr>
            <p:cNvPr id="40" name="Freeform 40" descr="preencoded.png"/>
            <p:cNvSpPr/>
            <p:nvPr/>
          </p:nvSpPr>
          <p:spPr>
            <a:xfrm>
              <a:off x="0" y="0"/>
              <a:ext cx="510159" cy="637794"/>
            </a:xfrm>
            <a:custGeom>
              <a:avLst/>
              <a:gdLst/>
              <a:ahLst/>
              <a:cxnLst/>
              <a:rect l="l" t="t" r="r" b="b"/>
              <a:pathLst>
                <a:path w="510159" h="637794">
                  <a:moveTo>
                    <a:pt x="0" y="0"/>
                  </a:moveTo>
                  <a:lnTo>
                    <a:pt x="510159" y="0"/>
                  </a:lnTo>
                  <a:lnTo>
                    <a:pt x="510159" y="637794"/>
                  </a:lnTo>
                  <a:lnTo>
                    <a:pt x="0" y="637794"/>
                  </a:lnTo>
                  <a:lnTo>
                    <a:pt x="0" y="0"/>
                  </a:lnTo>
                  <a:close/>
                </a:path>
              </a:pathLst>
            </a:custGeom>
            <a:blipFill>
              <a:blip r:embed="rId7"/>
              <a:stretch>
                <a:fillRect l="-3" r="-8" b="2"/>
              </a:stretch>
            </a:blipFill>
          </p:spPr>
        </p:sp>
      </p:grpSp>
      <p:sp>
        <p:nvSpPr>
          <p:cNvPr id="41" name="TextBox 41"/>
          <p:cNvSpPr txBox="1"/>
          <p:nvPr/>
        </p:nvSpPr>
        <p:spPr>
          <a:xfrm>
            <a:off x="9578728" y="7329785"/>
            <a:ext cx="3544044" cy="481012"/>
          </a:xfrm>
          <a:prstGeom prst="rect">
            <a:avLst/>
          </a:prstGeom>
        </p:spPr>
        <p:txBody>
          <a:bodyPr lIns="0" tIns="0" rIns="0" bIns="0" rtlCol="0" anchor="t">
            <a:spAutoFit/>
          </a:bodyPr>
          <a:lstStyle/>
          <a:p>
            <a:pPr algn="l">
              <a:lnSpc>
                <a:spcPts val="3437"/>
              </a:lnSpc>
            </a:pPr>
            <a:r>
              <a:rPr lang="en-US" sz="2750" b="1">
                <a:solidFill>
                  <a:srgbClr val="2A2742"/>
                </a:solidFill>
                <a:latin typeface="Arimo Bold"/>
                <a:ea typeface="Arimo Bold"/>
                <a:cs typeface="Arimo Bold"/>
                <a:sym typeface="Arimo Bold"/>
              </a:rPr>
              <a:t>Mobile App</a:t>
            </a:r>
          </a:p>
        </p:txBody>
      </p:sp>
      <p:sp>
        <p:nvSpPr>
          <p:cNvPr id="42" name="TextBox 42"/>
          <p:cNvSpPr txBox="1"/>
          <p:nvPr/>
        </p:nvSpPr>
        <p:spPr>
          <a:xfrm>
            <a:off x="9578728" y="7876134"/>
            <a:ext cx="4662339" cy="558404"/>
          </a:xfrm>
          <a:prstGeom prst="rect">
            <a:avLst/>
          </a:prstGeom>
        </p:spPr>
        <p:txBody>
          <a:bodyPr lIns="0" tIns="0" rIns="0" bIns="0" rtlCol="0" anchor="t">
            <a:spAutoFit/>
          </a:bodyPr>
          <a:lstStyle/>
          <a:p>
            <a:pPr algn="l">
              <a:lnSpc>
                <a:spcPts val="3562"/>
              </a:lnSpc>
            </a:pPr>
            <a:r>
              <a:rPr lang="en-US" sz="2187">
                <a:solidFill>
                  <a:srgbClr val="2A2742"/>
                </a:solidFill>
                <a:latin typeface="Arimo"/>
                <a:ea typeface="Arimo"/>
                <a:cs typeface="Arimo"/>
                <a:sym typeface="Arimo"/>
              </a:rPr>
              <a:t>Provide app support for easy access.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AFA">
                <a:alpha val="90196"/>
              </a:srgbClr>
            </a:solidFill>
          </p:spPr>
        </p:sp>
      </p:grpSp>
      <p:sp>
        <p:nvSpPr>
          <p:cNvPr id="6" name="TextBox 6"/>
          <p:cNvSpPr txBox="1"/>
          <p:nvPr/>
        </p:nvSpPr>
        <p:spPr>
          <a:xfrm>
            <a:off x="992238" y="2641252"/>
            <a:ext cx="7088237" cy="943124"/>
          </a:xfrm>
          <a:prstGeom prst="rect">
            <a:avLst/>
          </a:prstGeom>
        </p:spPr>
        <p:txBody>
          <a:bodyPr lIns="0" tIns="0" rIns="0" bIns="0" rtlCol="0" anchor="t">
            <a:spAutoFit/>
          </a:bodyPr>
          <a:lstStyle/>
          <a:p>
            <a:pPr algn="l">
              <a:lnSpc>
                <a:spcPts val="6937"/>
              </a:lnSpc>
            </a:pPr>
            <a:r>
              <a:rPr lang="en-US" sz="5562" b="1">
                <a:solidFill>
                  <a:srgbClr val="231971"/>
                </a:solidFill>
                <a:latin typeface="Arimo Bold"/>
                <a:ea typeface="Arimo Bold"/>
                <a:cs typeface="Arimo Bold"/>
                <a:sym typeface="Arimo Bold"/>
              </a:rPr>
              <a:t>References</a:t>
            </a:r>
          </a:p>
        </p:txBody>
      </p:sp>
      <p:sp>
        <p:nvSpPr>
          <p:cNvPr id="7" name="TextBox 7"/>
          <p:cNvSpPr txBox="1"/>
          <p:nvPr/>
        </p:nvSpPr>
        <p:spPr>
          <a:xfrm>
            <a:off x="992238" y="4046636"/>
            <a:ext cx="16303526" cy="558404"/>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2A2742"/>
                </a:solidFill>
                <a:latin typeface="Arimo"/>
                <a:ea typeface="Arimo"/>
                <a:cs typeface="Arimo"/>
                <a:sym typeface="Arimo"/>
              </a:rPr>
              <a:t>Django Documentation — </a:t>
            </a:r>
            <a:r>
              <a:rPr lang="en-US" sz="2187" u="sng">
                <a:solidFill>
                  <a:srgbClr val="5E4CE6"/>
                </a:solidFill>
                <a:latin typeface="Arimo"/>
                <a:ea typeface="Arimo"/>
                <a:cs typeface="Arimo"/>
                <a:sym typeface="Arimo"/>
                <a:hlinkClick r:id="rId4" tooltip="https://docs.djangoproject.com"/>
              </a:rPr>
              <a:t>https://docs.djangoproject.com</a:t>
            </a:r>
          </a:p>
        </p:txBody>
      </p:sp>
      <p:sp>
        <p:nvSpPr>
          <p:cNvPr id="8" name="TextBox 8"/>
          <p:cNvSpPr txBox="1"/>
          <p:nvPr/>
        </p:nvSpPr>
        <p:spPr>
          <a:xfrm>
            <a:off x="992238" y="4599385"/>
            <a:ext cx="16303526" cy="558404"/>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2A2742"/>
                </a:solidFill>
                <a:latin typeface="Arimo"/>
                <a:ea typeface="Arimo"/>
                <a:cs typeface="Arimo"/>
                <a:sym typeface="Arimo"/>
              </a:rPr>
              <a:t>W3Schools — HTML, CSS, JavaScript tutorials</a:t>
            </a:r>
          </a:p>
        </p:txBody>
      </p:sp>
      <p:sp>
        <p:nvSpPr>
          <p:cNvPr id="9" name="TextBox 9"/>
          <p:cNvSpPr txBox="1"/>
          <p:nvPr/>
        </p:nvSpPr>
        <p:spPr>
          <a:xfrm>
            <a:off x="992238" y="5152133"/>
            <a:ext cx="16303526" cy="558404"/>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2A2742"/>
                </a:solidFill>
                <a:latin typeface="Arimo"/>
                <a:ea typeface="Arimo"/>
                <a:cs typeface="Arimo"/>
                <a:sym typeface="Arimo"/>
              </a:rPr>
              <a:t>Stack Overflow — Developer discussions and solutions</a:t>
            </a:r>
          </a:p>
        </p:txBody>
      </p:sp>
      <p:sp>
        <p:nvSpPr>
          <p:cNvPr id="10" name="TextBox 10"/>
          <p:cNvSpPr txBox="1"/>
          <p:nvPr/>
        </p:nvSpPr>
        <p:spPr>
          <a:xfrm>
            <a:off x="992238" y="5704880"/>
            <a:ext cx="16303526" cy="558404"/>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2A2742"/>
                </a:solidFill>
                <a:latin typeface="Arimo"/>
                <a:ea typeface="Arimo"/>
                <a:cs typeface="Arimo"/>
                <a:sym typeface="Arimo"/>
              </a:rPr>
              <a:t>"Impact of Online Learning Tools" (2021) — Research Paper</a:t>
            </a:r>
          </a:p>
        </p:txBody>
      </p:sp>
      <p:sp>
        <p:nvSpPr>
          <p:cNvPr id="11" name="TextBox 11"/>
          <p:cNvSpPr txBox="1"/>
          <p:nvPr/>
        </p:nvSpPr>
        <p:spPr>
          <a:xfrm>
            <a:off x="992238" y="6257627"/>
            <a:ext cx="16303526" cy="558404"/>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2A2742"/>
                </a:solidFill>
                <a:latin typeface="Arimo"/>
                <a:ea typeface="Arimo"/>
                <a:cs typeface="Arimo"/>
                <a:sym typeface="Arimo"/>
              </a:rPr>
              <a:t>GitHub Sample Projects — Open-source references for similar apps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AFA">
                <a:alpha val="90196"/>
              </a:srgbClr>
            </a:solidFill>
          </p:spPr>
        </p:sp>
      </p:grpSp>
      <p:sp>
        <p:nvSpPr>
          <p:cNvPr id="6" name="TextBox 6"/>
          <p:cNvSpPr txBox="1"/>
          <p:nvPr/>
        </p:nvSpPr>
        <p:spPr>
          <a:xfrm>
            <a:off x="2055614" y="4152603"/>
            <a:ext cx="14176622" cy="1876871"/>
          </a:xfrm>
          <a:prstGeom prst="rect">
            <a:avLst/>
          </a:prstGeom>
        </p:spPr>
        <p:txBody>
          <a:bodyPr lIns="0" tIns="0" rIns="0" bIns="0" rtlCol="0" anchor="t">
            <a:spAutoFit/>
          </a:bodyPr>
          <a:lstStyle/>
          <a:p>
            <a:pPr algn="ctr">
              <a:lnSpc>
                <a:spcPts val="13937"/>
              </a:lnSpc>
            </a:pPr>
            <a:r>
              <a:rPr lang="en-US" sz="11124" b="1">
                <a:solidFill>
                  <a:srgbClr val="231971"/>
                </a:solidFill>
                <a:latin typeface="Arimo Bold"/>
                <a:ea typeface="Arimo Bold"/>
                <a:cs typeface="Arimo Bold"/>
                <a:sym typeface="Arim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496</Words>
  <Application>Microsoft Office PowerPoint</Application>
  <PresentationFormat>Custom</PresentationFormat>
  <Paragraphs>92</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Calibri</vt:lpstr>
      <vt:lpstr>Times New Roman</vt:lpstr>
      <vt:lpstr>Times New Roman Bold</vt:lpstr>
      <vt:lpstr>Arimo Bold</vt:lpstr>
      <vt:lpstr>Arial</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Online-Notes-Sharing-System (1).pptx</dc:title>
  <cp:lastModifiedBy>Prayas</cp:lastModifiedBy>
  <cp:revision>2</cp:revision>
  <dcterms:created xsi:type="dcterms:W3CDTF">2006-08-16T00:00:00Z</dcterms:created>
  <dcterms:modified xsi:type="dcterms:W3CDTF">2025-08-11T15:37:00Z</dcterms:modified>
  <dc:identifier>DAGvxhtlpFI</dc:identifier>
</cp:coreProperties>
</file>